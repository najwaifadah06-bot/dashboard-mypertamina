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Distribusi Sentimen Ulasan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38-45A8-BF93-39C4EA6A94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38-45A8-BF93-39C4EA6A94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38-45A8-BF93-39C4EA6A94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38-45A8-BF93-39C4EA6A943B}"/>
              </c:ext>
            </c:extLst>
          </c:dPt>
          <c:cat>
            <c:strRef>
              <c:f>Sheet1!$A$2:$A$5</c:f>
              <c:strCache>
                <c:ptCount val="3"/>
                <c:pt idx="0">
                  <c:v>Positif</c:v>
                </c:pt>
                <c:pt idx="1">
                  <c:v>Netral</c:v>
                </c:pt>
                <c:pt idx="2">
                  <c:v>Negatif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5.3</c:v>
                </c:pt>
                <c:pt idx="2">
                  <c:v>34.700000000000003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38-45A8-BF93-39C4EA6A9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367089074803148"/>
          <c:y val="0.12592967975334154"/>
          <c:w val="0.62185260826771649"/>
          <c:h val="0.770545228189885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Klasifikasi Langsung 52 Ulasan Rating 1 &amp;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Registrasi &amp; verifikasi ribet</c:v>
                </c:pt>
                <c:pt idx="1">
                  <c:v>Eror/lemot saat transaksi</c:v>
                </c:pt>
                <c:pt idx="2">
                  <c:v>Masalah Layanan SPBU &amp; Informasi Invalid</c:v>
                </c:pt>
                <c:pt idx="3">
                  <c:v>Kritik Umum &amp; Kualitas Sistem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11</c:v>
                </c:pt>
                <c:pt idx="2">
                  <c:v>11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9-4F3D-9851-2B3C818E69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Registrasi &amp; verifikasi ribet</c:v>
                </c:pt>
                <c:pt idx="1">
                  <c:v>Eror/lemot saat transaksi</c:v>
                </c:pt>
                <c:pt idx="2">
                  <c:v>Masalah Layanan SPBU &amp; Informasi Invalid</c:v>
                </c:pt>
                <c:pt idx="3">
                  <c:v>Kritik Umum &amp; Kualitas Sistem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2969-4F3D-9851-2B3C818E69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Registrasi &amp; verifikasi ribet</c:v>
                </c:pt>
                <c:pt idx="1">
                  <c:v>Eror/lemot saat transaksi</c:v>
                </c:pt>
                <c:pt idx="2">
                  <c:v>Masalah Layanan SPBU &amp; Informasi Invalid</c:v>
                </c:pt>
                <c:pt idx="3">
                  <c:v>Kritik Umum &amp; Kualitas Sistem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2969-4F3D-9851-2B3C818E69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86312031"/>
        <c:axId val="1060428079"/>
      </c:barChart>
      <c:catAx>
        <c:axId val="10863120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428079"/>
        <c:crosses val="autoZero"/>
        <c:auto val="1"/>
        <c:lblAlgn val="ctr"/>
        <c:lblOffset val="100"/>
        <c:noMultiLvlLbl val="0"/>
      </c:catAx>
      <c:valAx>
        <c:axId val="10604280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6312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18642232417348037"/>
          <c:y val="1.8837358371620812E-2"/>
          <c:w val="0.66035212909241603"/>
          <c:h val="6.44182129110624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1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1618370" y="0"/>
                </a:moveTo>
                <a:lnTo>
                  <a:pt x="0" y="0"/>
                </a:lnTo>
                <a:lnTo>
                  <a:pt x="0" y="1618370"/>
                </a:lnTo>
                <a:lnTo>
                  <a:pt x="37995" y="1625638"/>
                </a:lnTo>
                <a:lnTo>
                  <a:pt x="84318" y="1632867"/>
                </a:lnTo>
                <a:lnTo>
                  <a:pt x="131139" y="1638537"/>
                </a:lnTo>
                <a:lnTo>
                  <a:pt x="178431" y="1642620"/>
                </a:lnTo>
                <a:lnTo>
                  <a:pt x="226167" y="1645090"/>
                </a:lnTo>
                <a:lnTo>
                  <a:pt x="274320" y="1645920"/>
                </a:lnTo>
                <a:lnTo>
                  <a:pt x="322472" y="1645090"/>
                </a:lnTo>
                <a:lnTo>
                  <a:pt x="370208" y="1642620"/>
                </a:lnTo>
                <a:lnTo>
                  <a:pt x="417500" y="1638537"/>
                </a:lnTo>
                <a:lnTo>
                  <a:pt x="464321" y="1632867"/>
                </a:lnTo>
                <a:lnTo>
                  <a:pt x="510644" y="1625638"/>
                </a:lnTo>
                <a:lnTo>
                  <a:pt x="556441" y="1616877"/>
                </a:lnTo>
                <a:lnTo>
                  <a:pt x="601685" y="1606612"/>
                </a:lnTo>
                <a:lnTo>
                  <a:pt x="646349" y="1594869"/>
                </a:lnTo>
                <a:lnTo>
                  <a:pt x="690406" y="1581676"/>
                </a:lnTo>
                <a:lnTo>
                  <a:pt x="733828" y="1567059"/>
                </a:lnTo>
                <a:lnTo>
                  <a:pt x="776589" y="1551047"/>
                </a:lnTo>
                <a:lnTo>
                  <a:pt x="818661" y="1533666"/>
                </a:lnTo>
                <a:lnTo>
                  <a:pt x="860018" y="1514944"/>
                </a:lnTo>
                <a:lnTo>
                  <a:pt x="900631" y="1494907"/>
                </a:lnTo>
                <a:lnTo>
                  <a:pt x="940473" y="1473583"/>
                </a:lnTo>
                <a:lnTo>
                  <a:pt x="979518" y="1450999"/>
                </a:lnTo>
                <a:lnTo>
                  <a:pt x="1017739" y="1427182"/>
                </a:lnTo>
                <a:lnTo>
                  <a:pt x="1055107" y="1402160"/>
                </a:lnTo>
                <a:lnTo>
                  <a:pt x="1091596" y="1375959"/>
                </a:lnTo>
                <a:lnTo>
                  <a:pt x="1127179" y="1348607"/>
                </a:lnTo>
                <a:lnTo>
                  <a:pt x="1161828" y="1320131"/>
                </a:lnTo>
                <a:lnTo>
                  <a:pt x="1195517" y="1290559"/>
                </a:lnTo>
                <a:lnTo>
                  <a:pt x="1228217" y="1259916"/>
                </a:lnTo>
                <a:lnTo>
                  <a:pt x="1259902" y="1228232"/>
                </a:lnTo>
                <a:lnTo>
                  <a:pt x="1290545" y="1195532"/>
                </a:lnTo>
                <a:lnTo>
                  <a:pt x="1320119" y="1161844"/>
                </a:lnTo>
                <a:lnTo>
                  <a:pt x="1348595" y="1127195"/>
                </a:lnTo>
                <a:lnTo>
                  <a:pt x="1375948" y="1091613"/>
                </a:lnTo>
                <a:lnTo>
                  <a:pt x="1402149" y="1055124"/>
                </a:lnTo>
                <a:lnTo>
                  <a:pt x="1427172" y="1017756"/>
                </a:lnTo>
                <a:lnTo>
                  <a:pt x="1450990" y="979535"/>
                </a:lnTo>
                <a:lnTo>
                  <a:pt x="1473575" y="940490"/>
                </a:lnTo>
                <a:lnTo>
                  <a:pt x="1494900" y="900647"/>
                </a:lnTo>
                <a:lnTo>
                  <a:pt x="1514937" y="860034"/>
                </a:lnTo>
                <a:lnTo>
                  <a:pt x="1533661" y="818678"/>
                </a:lnTo>
                <a:lnTo>
                  <a:pt x="1551042" y="776605"/>
                </a:lnTo>
                <a:lnTo>
                  <a:pt x="1567055" y="733843"/>
                </a:lnTo>
                <a:lnTo>
                  <a:pt x="1581672" y="690420"/>
                </a:lnTo>
                <a:lnTo>
                  <a:pt x="1594866" y="646362"/>
                </a:lnTo>
                <a:lnTo>
                  <a:pt x="1606610" y="601697"/>
                </a:lnTo>
                <a:lnTo>
                  <a:pt x="1616876" y="556452"/>
                </a:lnTo>
                <a:lnTo>
                  <a:pt x="1625637" y="510653"/>
                </a:lnTo>
                <a:lnTo>
                  <a:pt x="1632866" y="464329"/>
                </a:lnTo>
                <a:lnTo>
                  <a:pt x="1638536" y="417507"/>
                </a:lnTo>
                <a:lnTo>
                  <a:pt x="1642620" y="370213"/>
                </a:lnTo>
                <a:lnTo>
                  <a:pt x="1645090" y="322475"/>
                </a:lnTo>
                <a:lnTo>
                  <a:pt x="1645920" y="274320"/>
                </a:lnTo>
                <a:lnTo>
                  <a:pt x="1645090" y="226164"/>
                </a:lnTo>
                <a:lnTo>
                  <a:pt x="1642620" y="178426"/>
                </a:lnTo>
                <a:lnTo>
                  <a:pt x="1638536" y="131132"/>
                </a:lnTo>
                <a:lnTo>
                  <a:pt x="1632866" y="84310"/>
                </a:lnTo>
                <a:lnTo>
                  <a:pt x="1625637" y="37986"/>
                </a:lnTo>
                <a:lnTo>
                  <a:pt x="1618370" y="0"/>
                </a:lnTo>
                <a:close/>
              </a:path>
            </a:pathLst>
          </a:custGeom>
          <a:solidFill>
            <a:srgbClr val="E30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607040" y="4937759"/>
            <a:ext cx="1584960" cy="1920239"/>
          </a:xfrm>
          <a:custGeom>
            <a:avLst/>
            <a:gdLst/>
            <a:ahLst/>
            <a:cxnLst/>
            <a:rect l="l" t="t" r="r" b="b"/>
            <a:pathLst>
              <a:path w="1584959" h="1920240">
                <a:moveTo>
                  <a:pt x="1280159" y="0"/>
                </a:moveTo>
                <a:lnTo>
                  <a:pt x="1232167" y="882"/>
                </a:lnTo>
                <a:lnTo>
                  <a:pt x="1184620" y="3511"/>
                </a:lnTo>
                <a:lnTo>
                  <a:pt x="1137550" y="7854"/>
                </a:lnTo>
                <a:lnTo>
                  <a:pt x="1090988" y="13880"/>
                </a:lnTo>
                <a:lnTo>
                  <a:pt x="1044964" y="21559"/>
                </a:lnTo>
                <a:lnTo>
                  <a:pt x="999510" y="30859"/>
                </a:lnTo>
                <a:lnTo>
                  <a:pt x="954656" y="41750"/>
                </a:lnTo>
                <a:lnTo>
                  <a:pt x="910434" y="54201"/>
                </a:lnTo>
                <a:lnTo>
                  <a:pt x="866874" y="68180"/>
                </a:lnTo>
                <a:lnTo>
                  <a:pt x="824007" y="83657"/>
                </a:lnTo>
                <a:lnTo>
                  <a:pt x="781865" y="100601"/>
                </a:lnTo>
                <a:lnTo>
                  <a:pt x="740478" y="118981"/>
                </a:lnTo>
                <a:lnTo>
                  <a:pt x="699877" y="138766"/>
                </a:lnTo>
                <a:lnTo>
                  <a:pt x="660093" y="159926"/>
                </a:lnTo>
                <a:lnTo>
                  <a:pt x="621157" y="182428"/>
                </a:lnTo>
                <a:lnTo>
                  <a:pt x="583101" y="206242"/>
                </a:lnTo>
                <a:lnTo>
                  <a:pt x="545954" y="231338"/>
                </a:lnTo>
                <a:lnTo>
                  <a:pt x="509748" y="257684"/>
                </a:lnTo>
                <a:lnTo>
                  <a:pt x="474514" y="285249"/>
                </a:lnTo>
                <a:lnTo>
                  <a:pt x="440282" y="314002"/>
                </a:lnTo>
                <a:lnTo>
                  <a:pt x="407084" y="343914"/>
                </a:lnTo>
                <a:lnTo>
                  <a:pt x="374951" y="374951"/>
                </a:lnTo>
                <a:lnTo>
                  <a:pt x="343914" y="407084"/>
                </a:lnTo>
                <a:lnTo>
                  <a:pt x="314002" y="440282"/>
                </a:lnTo>
                <a:lnTo>
                  <a:pt x="285249" y="474514"/>
                </a:lnTo>
                <a:lnTo>
                  <a:pt x="257684" y="509748"/>
                </a:lnTo>
                <a:lnTo>
                  <a:pt x="231338" y="545954"/>
                </a:lnTo>
                <a:lnTo>
                  <a:pt x="206242" y="583101"/>
                </a:lnTo>
                <a:lnTo>
                  <a:pt x="182428" y="621157"/>
                </a:lnTo>
                <a:lnTo>
                  <a:pt x="159926" y="660093"/>
                </a:lnTo>
                <a:lnTo>
                  <a:pt x="138766" y="699877"/>
                </a:lnTo>
                <a:lnTo>
                  <a:pt x="118981" y="740478"/>
                </a:lnTo>
                <a:lnTo>
                  <a:pt x="100601" y="781865"/>
                </a:lnTo>
                <a:lnTo>
                  <a:pt x="83657" y="824007"/>
                </a:lnTo>
                <a:lnTo>
                  <a:pt x="68180" y="866874"/>
                </a:lnTo>
                <a:lnTo>
                  <a:pt x="54201" y="910434"/>
                </a:lnTo>
                <a:lnTo>
                  <a:pt x="41750" y="954656"/>
                </a:lnTo>
                <a:lnTo>
                  <a:pt x="30859" y="999510"/>
                </a:lnTo>
                <a:lnTo>
                  <a:pt x="21559" y="1044964"/>
                </a:lnTo>
                <a:lnTo>
                  <a:pt x="13880" y="1090988"/>
                </a:lnTo>
                <a:lnTo>
                  <a:pt x="7854" y="1137550"/>
                </a:lnTo>
                <a:lnTo>
                  <a:pt x="3511" y="1184620"/>
                </a:lnTo>
                <a:lnTo>
                  <a:pt x="882" y="1232167"/>
                </a:lnTo>
                <a:lnTo>
                  <a:pt x="0" y="1280159"/>
                </a:lnTo>
                <a:lnTo>
                  <a:pt x="882" y="1328152"/>
                </a:lnTo>
                <a:lnTo>
                  <a:pt x="3511" y="1375699"/>
                </a:lnTo>
                <a:lnTo>
                  <a:pt x="7854" y="1422770"/>
                </a:lnTo>
                <a:lnTo>
                  <a:pt x="13880" y="1469332"/>
                </a:lnTo>
                <a:lnTo>
                  <a:pt x="21559" y="1515356"/>
                </a:lnTo>
                <a:lnTo>
                  <a:pt x="30859" y="1560810"/>
                </a:lnTo>
                <a:lnTo>
                  <a:pt x="41750" y="1605664"/>
                </a:lnTo>
                <a:lnTo>
                  <a:pt x="54201" y="1649887"/>
                </a:lnTo>
                <a:lnTo>
                  <a:pt x="68180" y="1693447"/>
                </a:lnTo>
                <a:lnTo>
                  <a:pt x="83657" y="1736313"/>
                </a:lnTo>
                <a:lnTo>
                  <a:pt x="100601" y="1778456"/>
                </a:lnTo>
                <a:lnTo>
                  <a:pt x="118981" y="1819843"/>
                </a:lnTo>
                <a:lnTo>
                  <a:pt x="138766" y="1860444"/>
                </a:lnTo>
                <a:lnTo>
                  <a:pt x="159926" y="1900227"/>
                </a:lnTo>
                <a:lnTo>
                  <a:pt x="171491" y="1920239"/>
                </a:lnTo>
                <a:lnTo>
                  <a:pt x="1584959" y="1920239"/>
                </a:lnTo>
                <a:lnTo>
                  <a:pt x="1584959" y="36723"/>
                </a:lnTo>
                <a:lnTo>
                  <a:pt x="1560809" y="30859"/>
                </a:lnTo>
                <a:lnTo>
                  <a:pt x="1515355" y="21559"/>
                </a:lnTo>
                <a:lnTo>
                  <a:pt x="1469331" y="13880"/>
                </a:lnTo>
                <a:lnTo>
                  <a:pt x="1422769" y="7854"/>
                </a:lnTo>
                <a:lnTo>
                  <a:pt x="1375699" y="3511"/>
                </a:lnTo>
                <a:lnTo>
                  <a:pt x="1328152" y="882"/>
                </a:lnTo>
                <a:lnTo>
                  <a:pt x="1280159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4320" y="5394959"/>
            <a:ext cx="1280160" cy="1280160"/>
          </a:xfrm>
          <a:custGeom>
            <a:avLst/>
            <a:gdLst/>
            <a:ahLst/>
            <a:cxnLst/>
            <a:rect l="l" t="t" r="r" b="b"/>
            <a:pathLst>
              <a:path w="1280160" h="1280159">
                <a:moveTo>
                  <a:pt x="640080" y="0"/>
                </a:moveTo>
                <a:lnTo>
                  <a:pt x="592310" y="1755"/>
                </a:lnTo>
                <a:lnTo>
                  <a:pt x="545494" y="6940"/>
                </a:lnTo>
                <a:lnTo>
                  <a:pt x="499755" y="15429"/>
                </a:lnTo>
                <a:lnTo>
                  <a:pt x="455217" y="27100"/>
                </a:lnTo>
                <a:lnTo>
                  <a:pt x="412003" y="41828"/>
                </a:lnTo>
                <a:lnTo>
                  <a:pt x="370239" y="59490"/>
                </a:lnTo>
                <a:lnTo>
                  <a:pt x="330046" y="79963"/>
                </a:lnTo>
                <a:lnTo>
                  <a:pt x="291550" y="103121"/>
                </a:lnTo>
                <a:lnTo>
                  <a:pt x="254874" y="128842"/>
                </a:lnTo>
                <a:lnTo>
                  <a:pt x="220141" y="157001"/>
                </a:lnTo>
                <a:lnTo>
                  <a:pt x="187475" y="187475"/>
                </a:lnTo>
                <a:lnTo>
                  <a:pt x="157001" y="220141"/>
                </a:lnTo>
                <a:lnTo>
                  <a:pt x="128842" y="254874"/>
                </a:lnTo>
                <a:lnTo>
                  <a:pt x="103121" y="291550"/>
                </a:lnTo>
                <a:lnTo>
                  <a:pt x="79963" y="330046"/>
                </a:lnTo>
                <a:lnTo>
                  <a:pt x="59490" y="370239"/>
                </a:lnTo>
                <a:lnTo>
                  <a:pt x="41828" y="412003"/>
                </a:lnTo>
                <a:lnTo>
                  <a:pt x="27100" y="455217"/>
                </a:lnTo>
                <a:lnTo>
                  <a:pt x="15429" y="499755"/>
                </a:lnTo>
                <a:lnTo>
                  <a:pt x="6940" y="545494"/>
                </a:lnTo>
                <a:lnTo>
                  <a:pt x="1755" y="592310"/>
                </a:lnTo>
                <a:lnTo>
                  <a:pt x="0" y="640079"/>
                </a:lnTo>
                <a:lnTo>
                  <a:pt x="1755" y="687849"/>
                </a:lnTo>
                <a:lnTo>
                  <a:pt x="6940" y="734665"/>
                </a:lnTo>
                <a:lnTo>
                  <a:pt x="15429" y="780404"/>
                </a:lnTo>
                <a:lnTo>
                  <a:pt x="27100" y="824942"/>
                </a:lnTo>
                <a:lnTo>
                  <a:pt x="41828" y="868156"/>
                </a:lnTo>
                <a:lnTo>
                  <a:pt x="59490" y="909920"/>
                </a:lnTo>
                <a:lnTo>
                  <a:pt x="79963" y="950113"/>
                </a:lnTo>
                <a:lnTo>
                  <a:pt x="103121" y="988609"/>
                </a:lnTo>
                <a:lnTo>
                  <a:pt x="128842" y="1025285"/>
                </a:lnTo>
                <a:lnTo>
                  <a:pt x="157001" y="1060018"/>
                </a:lnTo>
                <a:lnTo>
                  <a:pt x="187475" y="1092684"/>
                </a:lnTo>
                <a:lnTo>
                  <a:pt x="220141" y="1123158"/>
                </a:lnTo>
                <a:lnTo>
                  <a:pt x="254874" y="1151317"/>
                </a:lnTo>
                <a:lnTo>
                  <a:pt x="291550" y="1177038"/>
                </a:lnTo>
                <a:lnTo>
                  <a:pt x="330046" y="1200196"/>
                </a:lnTo>
                <a:lnTo>
                  <a:pt x="370239" y="1220669"/>
                </a:lnTo>
                <a:lnTo>
                  <a:pt x="412003" y="1238331"/>
                </a:lnTo>
                <a:lnTo>
                  <a:pt x="455217" y="1253059"/>
                </a:lnTo>
                <a:lnTo>
                  <a:pt x="499755" y="1264730"/>
                </a:lnTo>
                <a:lnTo>
                  <a:pt x="545494" y="1273219"/>
                </a:lnTo>
                <a:lnTo>
                  <a:pt x="592310" y="1278404"/>
                </a:lnTo>
                <a:lnTo>
                  <a:pt x="640080" y="1280159"/>
                </a:lnTo>
                <a:lnTo>
                  <a:pt x="687849" y="1278404"/>
                </a:lnTo>
                <a:lnTo>
                  <a:pt x="734665" y="1273219"/>
                </a:lnTo>
                <a:lnTo>
                  <a:pt x="780404" y="1264730"/>
                </a:lnTo>
                <a:lnTo>
                  <a:pt x="824942" y="1253059"/>
                </a:lnTo>
                <a:lnTo>
                  <a:pt x="868156" y="1238331"/>
                </a:lnTo>
                <a:lnTo>
                  <a:pt x="909920" y="1220669"/>
                </a:lnTo>
                <a:lnTo>
                  <a:pt x="950113" y="1200196"/>
                </a:lnTo>
                <a:lnTo>
                  <a:pt x="988609" y="1177038"/>
                </a:lnTo>
                <a:lnTo>
                  <a:pt x="1025285" y="1151317"/>
                </a:lnTo>
                <a:lnTo>
                  <a:pt x="1060018" y="1123158"/>
                </a:lnTo>
                <a:lnTo>
                  <a:pt x="1092684" y="1092684"/>
                </a:lnTo>
                <a:lnTo>
                  <a:pt x="1123158" y="1060018"/>
                </a:lnTo>
                <a:lnTo>
                  <a:pt x="1151317" y="1025285"/>
                </a:lnTo>
                <a:lnTo>
                  <a:pt x="1177038" y="988609"/>
                </a:lnTo>
                <a:lnTo>
                  <a:pt x="1200196" y="950113"/>
                </a:lnTo>
                <a:lnTo>
                  <a:pt x="1220669" y="909920"/>
                </a:lnTo>
                <a:lnTo>
                  <a:pt x="1238331" y="868156"/>
                </a:lnTo>
                <a:lnTo>
                  <a:pt x="1253059" y="824942"/>
                </a:lnTo>
                <a:lnTo>
                  <a:pt x="1264730" y="780404"/>
                </a:lnTo>
                <a:lnTo>
                  <a:pt x="1273219" y="734665"/>
                </a:lnTo>
                <a:lnTo>
                  <a:pt x="1278404" y="687849"/>
                </a:lnTo>
                <a:lnTo>
                  <a:pt x="1280160" y="640079"/>
                </a:lnTo>
                <a:lnTo>
                  <a:pt x="1278404" y="592310"/>
                </a:lnTo>
                <a:lnTo>
                  <a:pt x="1273219" y="545494"/>
                </a:lnTo>
                <a:lnTo>
                  <a:pt x="1264730" y="499755"/>
                </a:lnTo>
                <a:lnTo>
                  <a:pt x="1253059" y="455217"/>
                </a:lnTo>
                <a:lnTo>
                  <a:pt x="1238331" y="412003"/>
                </a:lnTo>
                <a:lnTo>
                  <a:pt x="1220669" y="370239"/>
                </a:lnTo>
                <a:lnTo>
                  <a:pt x="1200196" y="330046"/>
                </a:lnTo>
                <a:lnTo>
                  <a:pt x="1177038" y="291550"/>
                </a:lnTo>
                <a:lnTo>
                  <a:pt x="1151317" y="254874"/>
                </a:lnTo>
                <a:lnTo>
                  <a:pt x="1123158" y="220141"/>
                </a:lnTo>
                <a:lnTo>
                  <a:pt x="1092684" y="187475"/>
                </a:lnTo>
                <a:lnTo>
                  <a:pt x="1060018" y="157001"/>
                </a:lnTo>
                <a:lnTo>
                  <a:pt x="1025285" y="128842"/>
                </a:lnTo>
                <a:lnTo>
                  <a:pt x="988609" y="103121"/>
                </a:lnTo>
                <a:lnTo>
                  <a:pt x="950113" y="79963"/>
                </a:lnTo>
                <a:lnTo>
                  <a:pt x="909920" y="59490"/>
                </a:lnTo>
                <a:lnTo>
                  <a:pt x="868156" y="41828"/>
                </a:lnTo>
                <a:lnTo>
                  <a:pt x="824942" y="27100"/>
                </a:lnTo>
                <a:lnTo>
                  <a:pt x="780404" y="15429"/>
                </a:lnTo>
                <a:lnTo>
                  <a:pt x="734665" y="6940"/>
                </a:lnTo>
                <a:lnTo>
                  <a:pt x="687849" y="1755"/>
                </a:lnTo>
                <a:lnTo>
                  <a:pt x="640080" y="0"/>
                </a:lnTo>
                <a:close/>
              </a:path>
            </a:pathLst>
          </a:custGeom>
          <a:solidFill>
            <a:srgbClr val="008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93007" y="2788741"/>
            <a:ext cx="4205985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A1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A1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A1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A1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761746"/>
            <a:ext cx="7341870" cy="651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A1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1644" y="1414144"/>
            <a:ext cx="11357610" cy="4236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0219" y="6552006"/>
            <a:ext cx="259016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32107" y="6552006"/>
            <a:ext cx="2051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B7180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A1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698480" y="0"/>
            <a:ext cx="1493520" cy="2011680"/>
          </a:xfrm>
          <a:custGeom>
            <a:avLst/>
            <a:gdLst/>
            <a:ahLst/>
            <a:cxnLst/>
            <a:rect l="l" t="t" r="r" b="b"/>
            <a:pathLst>
              <a:path w="1493520" h="2011680">
                <a:moveTo>
                  <a:pt x="1493520" y="0"/>
                </a:moveTo>
                <a:lnTo>
                  <a:pt x="106364" y="0"/>
                </a:lnTo>
                <a:lnTo>
                  <a:pt x="89768" y="42926"/>
                </a:lnTo>
                <a:lnTo>
                  <a:pt x="74590" y="86221"/>
                </a:lnTo>
                <a:lnTo>
                  <a:pt x="60743" y="130125"/>
                </a:lnTo>
                <a:lnTo>
                  <a:pt x="48252" y="174612"/>
                </a:lnTo>
                <a:lnTo>
                  <a:pt x="37139" y="219659"/>
                </a:lnTo>
                <a:lnTo>
                  <a:pt x="27431" y="265242"/>
                </a:lnTo>
                <a:lnTo>
                  <a:pt x="19149" y="311337"/>
                </a:lnTo>
                <a:lnTo>
                  <a:pt x="12320" y="357919"/>
                </a:lnTo>
                <a:lnTo>
                  <a:pt x="6966" y="404964"/>
                </a:lnTo>
                <a:lnTo>
                  <a:pt x="3112" y="452449"/>
                </a:lnTo>
                <a:lnTo>
                  <a:pt x="782" y="500349"/>
                </a:lnTo>
                <a:lnTo>
                  <a:pt x="0" y="548639"/>
                </a:lnTo>
                <a:lnTo>
                  <a:pt x="782" y="596930"/>
                </a:lnTo>
                <a:lnTo>
                  <a:pt x="3112" y="644830"/>
                </a:lnTo>
                <a:lnTo>
                  <a:pt x="6966" y="692315"/>
                </a:lnTo>
                <a:lnTo>
                  <a:pt x="12320" y="739360"/>
                </a:lnTo>
                <a:lnTo>
                  <a:pt x="19149" y="785942"/>
                </a:lnTo>
                <a:lnTo>
                  <a:pt x="27431" y="832037"/>
                </a:lnTo>
                <a:lnTo>
                  <a:pt x="37139" y="877620"/>
                </a:lnTo>
                <a:lnTo>
                  <a:pt x="48252" y="922667"/>
                </a:lnTo>
                <a:lnTo>
                  <a:pt x="60743" y="967154"/>
                </a:lnTo>
                <a:lnTo>
                  <a:pt x="74590" y="1011058"/>
                </a:lnTo>
                <a:lnTo>
                  <a:pt x="89768" y="1054353"/>
                </a:lnTo>
                <a:lnTo>
                  <a:pt x="106253" y="1097016"/>
                </a:lnTo>
                <a:lnTo>
                  <a:pt x="124021" y="1139024"/>
                </a:lnTo>
                <a:lnTo>
                  <a:pt x="143048" y="1180350"/>
                </a:lnTo>
                <a:lnTo>
                  <a:pt x="163309" y="1220973"/>
                </a:lnTo>
                <a:lnTo>
                  <a:pt x="184781" y="1260866"/>
                </a:lnTo>
                <a:lnTo>
                  <a:pt x="207440" y="1300008"/>
                </a:lnTo>
                <a:lnTo>
                  <a:pt x="231260" y="1338372"/>
                </a:lnTo>
                <a:lnTo>
                  <a:pt x="256220" y="1375936"/>
                </a:lnTo>
                <a:lnTo>
                  <a:pt x="282293" y="1412674"/>
                </a:lnTo>
                <a:lnTo>
                  <a:pt x="309457" y="1448564"/>
                </a:lnTo>
                <a:lnTo>
                  <a:pt x="337686" y="1483580"/>
                </a:lnTo>
                <a:lnTo>
                  <a:pt x="366957" y="1517700"/>
                </a:lnTo>
                <a:lnTo>
                  <a:pt x="397246" y="1550897"/>
                </a:lnTo>
                <a:lnTo>
                  <a:pt x="428529" y="1583150"/>
                </a:lnTo>
                <a:lnTo>
                  <a:pt x="460782" y="1614433"/>
                </a:lnTo>
                <a:lnTo>
                  <a:pt x="493979" y="1644722"/>
                </a:lnTo>
                <a:lnTo>
                  <a:pt x="528099" y="1673993"/>
                </a:lnTo>
                <a:lnTo>
                  <a:pt x="563115" y="1702222"/>
                </a:lnTo>
                <a:lnTo>
                  <a:pt x="599005" y="1729386"/>
                </a:lnTo>
                <a:lnTo>
                  <a:pt x="635743" y="1755459"/>
                </a:lnTo>
                <a:lnTo>
                  <a:pt x="673307" y="1780419"/>
                </a:lnTo>
                <a:lnTo>
                  <a:pt x="711671" y="1804239"/>
                </a:lnTo>
                <a:lnTo>
                  <a:pt x="750813" y="1826898"/>
                </a:lnTo>
                <a:lnTo>
                  <a:pt x="790706" y="1848370"/>
                </a:lnTo>
                <a:lnTo>
                  <a:pt x="831329" y="1868631"/>
                </a:lnTo>
                <a:lnTo>
                  <a:pt x="872655" y="1887658"/>
                </a:lnTo>
                <a:lnTo>
                  <a:pt x="914663" y="1905426"/>
                </a:lnTo>
                <a:lnTo>
                  <a:pt x="957326" y="1921911"/>
                </a:lnTo>
                <a:lnTo>
                  <a:pt x="1000621" y="1937089"/>
                </a:lnTo>
                <a:lnTo>
                  <a:pt x="1044525" y="1950936"/>
                </a:lnTo>
                <a:lnTo>
                  <a:pt x="1089012" y="1963427"/>
                </a:lnTo>
                <a:lnTo>
                  <a:pt x="1134059" y="1974540"/>
                </a:lnTo>
                <a:lnTo>
                  <a:pt x="1179642" y="1984248"/>
                </a:lnTo>
                <a:lnTo>
                  <a:pt x="1225737" y="1992530"/>
                </a:lnTo>
                <a:lnTo>
                  <a:pt x="1272319" y="1999359"/>
                </a:lnTo>
                <a:lnTo>
                  <a:pt x="1319364" y="2004713"/>
                </a:lnTo>
                <a:lnTo>
                  <a:pt x="1366849" y="2008567"/>
                </a:lnTo>
                <a:lnTo>
                  <a:pt x="1414749" y="2010897"/>
                </a:lnTo>
                <a:lnTo>
                  <a:pt x="1463040" y="2011679"/>
                </a:lnTo>
                <a:lnTo>
                  <a:pt x="1493520" y="2011186"/>
                </a:lnTo>
                <a:lnTo>
                  <a:pt x="1493520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30000" y="5199758"/>
            <a:ext cx="762000" cy="1658620"/>
          </a:xfrm>
          <a:custGeom>
            <a:avLst/>
            <a:gdLst/>
            <a:ahLst/>
            <a:cxnLst/>
            <a:rect l="l" t="t" r="r" b="b"/>
            <a:pathLst>
              <a:path w="762000" h="1658620">
                <a:moveTo>
                  <a:pt x="762000" y="0"/>
                </a:moveTo>
                <a:lnTo>
                  <a:pt x="695049" y="27930"/>
                </a:lnTo>
                <a:lnTo>
                  <a:pt x="654463" y="47426"/>
                </a:lnTo>
                <a:lnTo>
                  <a:pt x="614748" y="68395"/>
                </a:lnTo>
                <a:lnTo>
                  <a:pt x="575937" y="90803"/>
                </a:lnTo>
                <a:lnTo>
                  <a:pt x="538068" y="114613"/>
                </a:lnTo>
                <a:lnTo>
                  <a:pt x="501174" y="139789"/>
                </a:lnTo>
                <a:lnTo>
                  <a:pt x="465292" y="166297"/>
                </a:lnTo>
                <a:lnTo>
                  <a:pt x="430458" y="194102"/>
                </a:lnTo>
                <a:lnTo>
                  <a:pt x="396706" y="223166"/>
                </a:lnTo>
                <a:lnTo>
                  <a:pt x="364072" y="253456"/>
                </a:lnTo>
                <a:lnTo>
                  <a:pt x="332592" y="284935"/>
                </a:lnTo>
                <a:lnTo>
                  <a:pt x="302302" y="317567"/>
                </a:lnTo>
                <a:lnTo>
                  <a:pt x="273236" y="351318"/>
                </a:lnTo>
                <a:lnTo>
                  <a:pt x="245431" y="386152"/>
                </a:lnTo>
                <a:lnTo>
                  <a:pt x="218922" y="422034"/>
                </a:lnTo>
                <a:lnTo>
                  <a:pt x="193744" y="458927"/>
                </a:lnTo>
                <a:lnTo>
                  <a:pt x="169933" y="496797"/>
                </a:lnTo>
                <a:lnTo>
                  <a:pt x="147524" y="535607"/>
                </a:lnTo>
                <a:lnTo>
                  <a:pt x="126553" y="575323"/>
                </a:lnTo>
                <a:lnTo>
                  <a:pt x="107056" y="615908"/>
                </a:lnTo>
                <a:lnTo>
                  <a:pt x="89068" y="657328"/>
                </a:lnTo>
                <a:lnTo>
                  <a:pt x="72625" y="699547"/>
                </a:lnTo>
                <a:lnTo>
                  <a:pt x="57761" y="742529"/>
                </a:lnTo>
                <a:lnTo>
                  <a:pt x="44514" y="786239"/>
                </a:lnTo>
                <a:lnTo>
                  <a:pt x="32917" y="830641"/>
                </a:lnTo>
                <a:lnTo>
                  <a:pt x="23007" y="875699"/>
                </a:lnTo>
                <a:lnTo>
                  <a:pt x="14819" y="921379"/>
                </a:lnTo>
                <a:lnTo>
                  <a:pt x="8389" y="967645"/>
                </a:lnTo>
                <a:lnTo>
                  <a:pt x="3752" y="1014461"/>
                </a:lnTo>
                <a:lnTo>
                  <a:pt x="943" y="1061791"/>
                </a:lnTo>
                <a:lnTo>
                  <a:pt x="0" y="1109601"/>
                </a:lnTo>
                <a:lnTo>
                  <a:pt x="943" y="1157411"/>
                </a:lnTo>
                <a:lnTo>
                  <a:pt x="3752" y="1204741"/>
                </a:lnTo>
                <a:lnTo>
                  <a:pt x="8389" y="1251557"/>
                </a:lnTo>
                <a:lnTo>
                  <a:pt x="14819" y="1297823"/>
                </a:lnTo>
                <a:lnTo>
                  <a:pt x="23007" y="1343503"/>
                </a:lnTo>
                <a:lnTo>
                  <a:pt x="32917" y="1388561"/>
                </a:lnTo>
                <a:lnTo>
                  <a:pt x="44514" y="1432963"/>
                </a:lnTo>
                <a:lnTo>
                  <a:pt x="57761" y="1476673"/>
                </a:lnTo>
                <a:lnTo>
                  <a:pt x="72625" y="1519655"/>
                </a:lnTo>
                <a:lnTo>
                  <a:pt x="89068" y="1561873"/>
                </a:lnTo>
                <a:lnTo>
                  <a:pt x="107056" y="1603293"/>
                </a:lnTo>
                <a:lnTo>
                  <a:pt x="126553" y="1643879"/>
                </a:lnTo>
                <a:lnTo>
                  <a:pt x="134137" y="1658241"/>
                </a:lnTo>
                <a:lnTo>
                  <a:pt x="762000" y="1658241"/>
                </a:lnTo>
                <a:lnTo>
                  <a:pt x="762000" y="0"/>
                </a:lnTo>
                <a:close/>
              </a:path>
            </a:pathLst>
          </a:custGeom>
          <a:solidFill>
            <a:srgbClr val="E30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66959" y="5669279"/>
            <a:ext cx="1371600" cy="1188720"/>
          </a:xfrm>
          <a:custGeom>
            <a:avLst/>
            <a:gdLst/>
            <a:ahLst/>
            <a:cxnLst/>
            <a:rect l="l" t="t" r="r" b="b"/>
            <a:pathLst>
              <a:path w="1371600" h="1188720">
                <a:moveTo>
                  <a:pt x="685800" y="0"/>
                </a:moveTo>
                <a:lnTo>
                  <a:pt x="636828" y="1721"/>
                </a:lnTo>
                <a:lnTo>
                  <a:pt x="588784" y="6810"/>
                </a:lnTo>
                <a:lnTo>
                  <a:pt x="541785" y="15149"/>
                </a:lnTo>
                <a:lnTo>
                  <a:pt x="495947" y="26622"/>
                </a:lnTo>
                <a:lnTo>
                  <a:pt x="451386" y="41114"/>
                </a:lnTo>
                <a:lnTo>
                  <a:pt x="408218" y="58508"/>
                </a:lnTo>
                <a:lnTo>
                  <a:pt x="366559" y="78688"/>
                </a:lnTo>
                <a:lnTo>
                  <a:pt x="326525" y="101539"/>
                </a:lnTo>
                <a:lnTo>
                  <a:pt x="288233" y="126943"/>
                </a:lnTo>
                <a:lnTo>
                  <a:pt x="251798" y="154786"/>
                </a:lnTo>
                <a:lnTo>
                  <a:pt x="217336" y="184951"/>
                </a:lnTo>
                <a:lnTo>
                  <a:pt x="184964" y="217321"/>
                </a:lnTo>
                <a:lnTo>
                  <a:pt x="154798" y="251782"/>
                </a:lnTo>
                <a:lnTo>
                  <a:pt x="126954" y="288216"/>
                </a:lnTo>
                <a:lnTo>
                  <a:pt x="101548" y="326508"/>
                </a:lnTo>
                <a:lnTo>
                  <a:pt x="78696" y="366542"/>
                </a:lnTo>
                <a:lnTo>
                  <a:pt x="58514" y="408202"/>
                </a:lnTo>
                <a:lnTo>
                  <a:pt x="41118" y="451371"/>
                </a:lnTo>
                <a:lnTo>
                  <a:pt x="26625" y="495934"/>
                </a:lnTo>
                <a:lnTo>
                  <a:pt x="15151" y="541774"/>
                </a:lnTo>
                <a:lnTo>
                  <a:pt x="6811" y="588776"/>
                </a:lnTo>
                <a:lnTo>
                  <a:pt x="1722" y="636823"/>
                </a:lnTo>
                <a:lnTo>
                  <a:pt x="0" y="685800"/>
                </a:lnTo>
                <a:lnTo>
                  <a:pt x="1722" y="734776"/>
                </a:lnTo>
                <a:lnTo>
                  <a:pt x="6811" y="782824"/>
                </a:lnTo>
                <a:lnTo>
                  <a:pt x="15151" y="829826"/>
                </a:lnTo>
                <a:lnTo>
                  <a:pt x="26625" y="875666"/>
                </a:lnTo>
                <a:lnTo>
                  <a:pt x="41118" y="920229"/>
                </a:lnTo>
                <a:lnTo>
                  <a:pt x="58514" y="963399"/>
                </a:lnTo>
                <a:lnTo>
                  <a:pt x="78696" y="1005058"/>
                </a:lnTo>
                <a:lnTo>
                  <a:pt x="101548" y="1045092"/>
                </a:lnTo>
                <a:lnTo>
                  <a:pt x="126954" y="1083384"/>
                </a:lnTo>
                <a:lnTo>
                  <a:pt x="154798" y="1119819"/>
                </a:lnTo>
                <a:lnTo>
                  <a:pt x="184964" y="1154279"/>
                </a:lnTo>
                <a:lnTo>
                  <a:pt x="217336" y="1186650"/>
                </a:lnTo>
                <a:lnTo>
                  <a:pt x="219701" y="1188720"/>
                </a:lnTo>
                <a:lnTo>
                  <a:pt x="1151898" y="1188720"/>
                </a:lnTo>
                <a:lnTo>
                  <a:pt x="1186635" y="1154279"/>
                </a:lnTo>
                <a:lnTo>
                  <a:pt x="1216801" y="1119819"/>
                </a:lnTo>
                <a:lnTo>
                  <a:pt x="1244645" y="1083384"/>
                </a:lnTo>
                <a:lnTo>
                  <a:pt x="1270051" y="1045092"/>
                </a:lnTo>
                <a:lnTo>
                  <a:pt x="1292903" y="1005058"/>
                </a:lnTo>
                <a:lnTo>
                  <a:pt x="1313085" y="963399"/>
                </a:lnTo>
                <a:lnTo>
                  <a:pt x="1330481" y="920229"/>
                </a:lnTo>
                <a:lnTo>
                  <a:pt x="1344974" y="875666"/>
                </a:lnTo>
                <a:lnTo>
                  <a:pt x="1356448" y="829826"/>
                </a:lnTo>
                <a:lnTo>
                  <a:pt x="1364788" y="782824"/>
                </a:lnTo>
                <a:lnTo>
                  <a:pt x="1369877" y="734776"/>
                </a:lnTo>
                <a:lnTo>
                  <a:pt x="1371600" y="685800"/>
                </a:lnTo>
                <a:lnTo>
                  <a:pt x="1369877" y="636823"/>
                </a:lnTo>
                <a:lnTo>
                  <a:pt x="1364788" y="588776"/>
                </a:lnTo>
                <a:lnTo>
                  <a:pt x="1356448" y="541774"/>
                </a:lnTo>
                <a:lnTo>
                  <a:pt x="1344974" y="495934"/>
                </a:lnTo>
                <a:lnTo>
                  <a:pt x="1330481" y="451371"/>
                </a:lnTo>
                <a:lnTo>
                  <a:pt x="1313085" y="408202"/>
                </a:lnTo>
                <a:lnTo>
                  <a:pt x="1292903" y="366542"/>
                </a:lnTo>
                <a:lnTo>
                  <a:pt x="1270051" y="326508"/>
                </a:lnTo>
                <a:lnTo>
                  <a:pt x="1244645" y="288216"/>
                </a:lnTo>
                <a:lnTo>
                  <a:pt x="1216801" y="251782"/>
                </a:lnTo>
                <a:lnTo>
                  <a:pt x="1186635" y="217321"/>
                </a:lnTo>
                <a:lnTo>
                  <a:pt x="1154263" y="184951"/>
                </a:lnTo>
                <a:lnTo>
                  <a:pt x="1119801" y="154786"/>
                </a:lnTo>
                <a:lnTo>
                  <a:pt x="1083366" y="126943"/>
                </a:lnTo>
                <a:lnTo>
                  <a:pt x="1045074" y="101539"/>
                </a:lnTo>
                <a:lnTo>
                  <a:pt x="1005040" y="78688"/>
                </a:lnTo>
                <a:lnTo>
                  <a:pt x="963381" y="58508"/>
                </a:lnTo>
                <a:lnTo>
                  <a:pt x="920213" y="41114"/>
                </a:lnTo>
                <a:lnTo>
                  <a:pt x="875652" y="26622"/>
                </a:lnTo>
                <a:lnTo>
                  <a:pt x="829814" y="15149"/>
                </a:lnTo>
                <a:lnTo>
                  <a:pt x="782815" y="6810"/>
                </a:lnTo>
                <a:lnTo>
                  <a:pt x="734771" y="1721"/>
                </a:lnTo>
                <a:lnTo>
                  <a:pt x="685800" y="0"/>
                </a:lnTo>
                <a:close/>
              </a:path>
            </a:pathLst>
          </a:custGeom>
          <a:solidFill>
            <a:srgbClr val="008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0219" y="1478025"/>
            <a:ext cx="46958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F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U</a:t>
            </a:r>
            <a:r>
              <a:rPr sz="1300" b="1" spc="-8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S</a:t>
            </a:r>
            <a:r>
              <a:rPr sz="1300" b="1" spc="3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D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9FC2ED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N</a:t>
            </a:r>
            <a:r>
              <a:rPr sz="1300" b="1" spc="434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U</a:t>
            </a:r>
            <a:r>
              <a:rPr sz="1300" b="1" spc="-8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9FC2ED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V</a:t>
            </a:r>
            <a:r>
              <a:rPr sz="1300" b="1" spc="-8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9FC2ED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S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S</a:t>
            </a:r>
            <a:r>
              <a:rPr sz="1300" b="1" spc="3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P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9FC2ED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9FC2ED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G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9FC2ED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9FC2ED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9FC2ED"/>
                </a:solidFill>
                <a:latin typeface="Calibri"/>
                <a:cs typeface="Calibri"/>
              </a:rPr>
              <a:t>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2919" y="1828800"/>
            <a:ext cx="1463040" cy="41275"/>
          </a:xfrm>
          <a:custGeom>
            <a:avLst/>
            <a:gdLst/>
            <a:ahLst/>
            <a:cxnLst/>
            <a:rect l="l" t="t" r="r" b="b"/>
            <a:pathLst>
              <a:path w="1463039" h="41275">
                <a:moveTo>
                  <a:pt x="1463040" y="0"/>
                </a:moveTo>
                <a:lnTo>
                  <a:pt x="0" y="0"/>
                </a:lnTo>
                <a:lnTo>
                  <a:pt x="0" y="41148"/>
                </a:lnTo>
                <a:lnTo>
                  <a:pt x="1463040" y="41148"/>
                </a:lnTo>
                <a:lnTo>
                  <a:pt x="1463040" y="0"/>
                </a:lnTo>
                <a:close/>
              </a:path>
            </a:pathLst>
          </a:custGeom>
          <a:solidFill>
            <a:srgbClr val="E30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90219" y="2171445"/>
            <a:ext cx="8732520" cy="182181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4790"/>
              </a:lnSpc>
              <a:spcBef>
                <a:spcPts val="70"/>
              </a:spcBef>
            </a:pPr>
            <a:r>
              <a:rPr sz="3800" dirty="0">
                <a:solidFill>
                  <a:srgbClr val="FFFFFF"/>
                </a:solidFill>
              </a:rPr>
              <a:t>ANALISIS</a:t>
            </a:r>
            <a:r>
              <a:rPr sz="3800" spc="-15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SENTIMEN</a:t>
            </a:r>
            <a:r>
              <a:rPr sz="3800" spc="-13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DAN</a:t>
            </a:r>
            <a:r>
              <a:rPr sz="3800" spc="-105" dirty="0">
                <a:solidFill>
                  <a:srgbClr val="FFFFFF"/>
                </a:solidFill>
              </a:rPr>
              <a:t> </a:t>
            </a:r>
            <a:r>
              <a:rPr sz="3800" spc="-10" dirty="0">
                <a:solidFill>
                  <a:srgbClr val="FFFFFF"/>
                </a:solidFill>
              </a:rPr>
              <a:t>PENERIMAAN </a:t>
            </a:r>
            <a:r>
              <a:rPr sz="3800" spc="-40" dirty="0">
                <a:solidFill>
                  <a:srgbClr val="FFFFFF"/>
                </a:solidFill>
              </a:rPr>
              <a:t>PLATFORM</a:t>
            </a:r>
            <a:r>
              <a:rPr sz="3800" spc="-150" dirty="0">
                <a:solidFill>
                  <a:srgbClr val="FFFFFF"/>
                </a:solidFill>
              </a:rPr>
              <a:t> </a:t>
            </a:r>
            <a:r>
              <a:rPr sz="3800" spc="-45" dirty="0">
                <a:solidFill>
                  <a:srgbClr val="FFFFFF"/>
                </a:solidFill>
              </a:rPr>
              <a:t>DIGITAL:</a:t>
            </a:r>
            <a:r>
              <a:rPr sz="3800" spc="-140" dirty="0">
                <a:solidFill>
                  <a:srgbClr val="FFFFFF"/>
                </a:solidFill>
              </a:rPr>
              <a:t> </a:t>
            </a:r>
            <a:r>
              <a:rPr sz="3800" spc="-10" dirty="0">
                <a:solidFill>
                  <a:srgbClr val="FFFFFF"/>
                </a:solidFill>
              </a:rPr>
              <a:t>APLIKASI</a:t>
            </a:r>
            <a:endParaRPr sz="3800"/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800" spc="-10" dirty="0">
                <a:solidFill>
                  <a:srgbClr val="FFFFFF"/>
                </a:solidFill>
              </a:rPr>
              <a:t>MYPERTAMINA</a:t>
            </a:r>
            <a:endParaRPr sz="3800"/>
          </a:p>
        </p:txBody>
      </p:sp>
      <p:sp>
        <p:nvSpPr>
          <p:cNvPr id="9" name="object 9"/>
          <p:cNvSpPr txBox="1"/>
          <p:nvPr/>
        </p:nvSpPr>
        <p:spPr>
          <a:xfrm>
            <a:off x="490219" y="4243197"/>
            <a:ext cx="4704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C6D5EB"/>
                </a:solidFill>
                <a:latin typeface="Calibri"/>
                <a:cs typeface="Calibri"/>
              </a:rPr>
              <a:t>Studi</a:t>
            </a:r>
            <a:r>
              <a:rPr sz="1600" i="1" spc="-50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C6D5EB"/>
                </a:solidFill>
                <a:latin typeface="Calibri"/>
                <a:cs typeface="Calibri"/>
              </a:rPr>
              <a:t>Sentimen</a:t>
            </a:r>
            <a:r>
              <a:rPr sz="1600" i="1" spc="-55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C6D5EB"/>
                </a:solidFill>
                <a:latin typeface="Calibri"/>
                <a:cs typeface="Calibri"/>
              </a:rPr>
              <a:t>Ulasan</a:t>
            </a:r>
            <a:r>
              <a:rPr sz="1600" i="1" spc="-40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C6D5EB"/>
                </a:solidFill>
                <a:latin typeface="Calibri"/>
                <a:cs typeface="Calibri"/>
              </a:rPr>
              <a:t>Pengguna</a:t>
            </a:r>
            <a:r>
              <a:rPr sz="1600" i="1" spc="-10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C6D5EB"/>
                </a:solidFill>
                <a:latin typeface="Calibri"/>
                <a:cs typeface="Calibri"/>
              </a:rPr>
              <a:t>pada</a:t>
            </a:r>
            <a:r>
              <a:rPr sz="1600" i="1" spc="-35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C6D5EB"/>
                </a:solidFill>
                <a:latin typeface="Calibri"/>
                <a:cs typeface="Calibri"/>
              </a:rPr>
              <a:t>Google</a:t>
            </a:r>
            <a:r>
              <a:rPr sz="1600" i="1" spc="-30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C6D5EB"/>
                </a:solidFill>
                <a:latin typeface="Calibri"/>
                <a:cs typeface="Calibri"/>
              </a:rPr>
              <a:t>Play</a:t>
            </a:r>
            <a:r>
              <a:rPr sz="1600" i="1" spc="-65" dirty="0">
                <a:solidFill>
                  <a:srgbClr val="C6D5EB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C6D5EB"/>
                </a:solidFill>
                <a:latin typeface="Calibri"/>
                <a:cs typeface="Calibri"/>
              </a:rPr>
              <a:t>Store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9288" y="4826508"/>
            <a:ext cx="4132579" cy="1069340"/>
            <a:chOff x="399288" y="4826508"/>
            <a:chExt cx="4132579" cy="10693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4826508"/>
              <a:ext cx="4132326" cy="10690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2920" y="4892040"/>
              <a:ext cx="3931920" cy="868680"/>
            </a:xfrm>
            <a:custGeom>
              <a:avLst/>
              <a:gdLst/>
              <a:ahLst/>
              <a:cxnLst/>
              <a:rect l="l" t="t" r="r" b="b"/>
              <a:pathLst>
                <a:path w="3931920" h="868679">
                  <a:moveTo>
                    <a:pt x="385876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795528"/>
                  </a:lnTo>
                  <a:lnTo>
                    <a:pt x="5748" y="824001"/>
                  </a:lnTo>
                  <a:lnTo>
                    <a:pt x="21426" y="847253"/>
                  </a:lnTo>
                  <a:lnTo>
                    <a:pt x="44678" y="862931"/>
                  </a:lnTo>
                  <a:lnTo>
                    <a:pt x="73151" y="868680"/>
                  </a:lnTo>
                  <a:lnTo>
                    <a:pt x="3858767" y="868680"/>
                  </a:lnTo>
                  <a:lnTo>
                    <a:pt x="3887235" y="862931"/>
                  </a:lnTo>
                  <a:lnTo>
                    <a:pt x="3910488" y="847253"/>
                  </a:lnTo>
                  <a:lnTo>
                    <a:pt x="3926169" y="824001"/>
                  </a:lnTo>
                  <a:lnTo>
                    <a:pt x="3931919" y="795528"/>
                  </a:lnTo>
                  <a:lnTo>
                    <a:pt x="3931919" y="73152"/>
                  </a:lnTo>
                  <a:lnTo>
                    <a:pt x="3926169" y="44684"/>
                  </a:lnTo>
                  <a:lnTo>
                    <a:pt x="3910488" y="21431"/>
                  </a:lnTo>
                  <a:lnTo>
                    <a:pt x="3887235" y="5750"/>
                  </a:lnTo>
                  <a:lnTo>
                    <a:pt x="3858767" y="0"/>
                  </a:lnTo>
                  <a:close/>
                </a:path>
              </a:pathLst>
            </a:custGeom>
            <a:solidFill>
              <a:srgbClr val="12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18819" y="5038420"/>
            <a:ext cx="1504315" cy="567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BBDM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26D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200" spc="-20" dirty="0">
                <a:solidFill>
                  <a:srgbClr val="AAB8CC"/>
                </a:solidFill>
                <a:latin typeface="Calibri"/>
                <a:cs typeface="Calibri"/>
              </a:rPr>
              <a:t>Tugas</a:t>
            </a:r>
            <a:r>
              <a:rPr sz="1200" spc="-10" dirty="0">
                <a:solidFill>
                  <a:srgbClr val="AAB8CC"/>
                </a:solidFill>
                <a:latin typeface="Calibri"/>
                <a:cs typeface="Calibri"/>
              </a:rPr>
              <a:t> Internet</a:t>
            </a:r>
            <a:r>
              <a:rPr sz="1200" spc="-25" dirty="0">
                <a:solidFill>
                  <a:srgbClr val="AAB8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AB8CC"/>
                </a:solidFill>
                <a:latin typeface="Calibri"/>
                <a:cs typeface="Calibri"/>
              </a:rPr>
              <a:t>of </a:t>
            </a:r>
            <a:r>
              <a:rPr sz="1200" spc="-10" dirty="0">
                <a:solidFill>
                  <a:srgbClr val="AAB8CC"/>
                </a:solidFill>
                <a:latin typeface="Calibri"/>
                <a:cs typeface="Calibri"/>
              </a:rPr>
              <a:t>Things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4954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L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R</a:t>
            </a:r>
            <a:r>
              <a:rPr sz="1200" b="1" spc="39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B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L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K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54A3"/>
                </a:solidFill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Mengapa</a:t>
            </a:r>
            <a:r>
              <a:rPr spc="-55" dirty="0"/>
              <a:t> </a:t>
            </a:r>
            <a:r>
              <a:rPr dirty="0"/>
              <a:t>Studi</a:t>
            </a:r>
            <a:r>
              <a:rPr spc="-35" dirty="0"/>
              <a:t> </a:t>
            </a:r>
            <a:r>
              <a:rPr dirty="0"/>
              <a:t>Ini</a:t>
            </a:r>
            <a:r>
              <a:rPr spc="-30" dirty="0"/>
              <a:t> </a:t>
            </a:r>
            <a:r>
              <a:rPr spc="-10" dirty="0"/>
              <a:t>Dilakukan?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34667"/>
            <a:ext cx="7058659" cy="4681220"/>
            <a:chOff x="399288" y="1534667"/>
            <a:chExt cx="7058659" cy="4681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34667"/>
              <a:ext cx="7058406" cy="46809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6858000" cy="4480560"/>
            </a:xfrm>
            <a:custGeom>
              <a:avLst/>
              <a:gdLst/>
              <a:ahLst/>
              <a:cxnLst/>
              <a:rect l="l" t="t" r="r" b="b"/>
              <a:pathLst>
                <a:path w="6858000" h="4480560">
                  <a:moveTo>
                    <a:pt x="6784848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4407395"/>
                  </a:lnTo>
                  <a:lnTo>
                    <a:pt x="5749" y="4435870"/>
                  </a:lnTo>
                  <a:lnTo>
                    <a:pt x="21428" y="4459127"/>
                  </a:lnTo>
                  <a:lnTo>
                    <a:pt x="44684" y="4474809"/>
                  </a:lnTo>
                  <a:lnTo>
                    <a:pt x="73164" y="4480560"/>
                  </a:lnTo>
                  <a:lnTo>
                    <a:pt x="6784848" y="4480560"/>
                  </a:lnTo>
                  <a:lnTo>
                    <a:pt x="6813315" y="4474809"/>
                  </a:lnTo>
                  <a:lnTo>
                    <a:pt x="6836568" y="4459127"/>
                  </a:lnTo>
                  <a:lnTo>
                    <a:pt x="6852249" y="4435870"/>
                  </a:lnTo>
                  <a:lnTo>
                    <a:pt x="6858000" y="4407395"/>
                  </a:lnTo>
                  <a:lnTo>
                    <a:pt x="6858000" y="73151"/>
                  </a:lnTo>
                  <a:lnTo>
                    <a:pt x="6852249" y="44684"/>
                  </a:lnTo>
                  <a:lnTo>
                    <a:pt x="6836568" y="21431"/>
                  </a:lnTo>
                  <a:lnTo>
                    <a:pt x="6813315" y="5750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259" y="1835175"/>
            <a:ext cx="624522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MyPertamina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adalah</a:t>
            </a:r>
            <a:r>
              <a:rPr sz="13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platform</a:t>
            </a:r>
            <a:r>
              <a:rPr sz="13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digital</a:t>
            </a:r>
            <a:r>
              <a:rPr sz="13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resmi</a:t>
            </a:r>
            <a:r>
              <a:rPr sz="135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PT</a:t>
            </a:r>
            <a:r>
              <a:rPr sz="13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Pertamina</a:t>
            </a:r>
            <a:r>
              <a:rPr sz="13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digunakan</a:t>
            </a:r>
            <a:r>
              <a:rPr sz="13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transaksi non-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tunai,</a:t>
            </a:r>
            <a:r>
              <a:rPr sz="13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pembelian</a:t>
            </a:r>
            <a:r>
              <a:rPr sz="13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BBM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bersubsidi,</a:t>
            </a:r>
            <a:r>
              <a:rPr sz="13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program</a:t>
            </a:r>
            <a:r>
              <a:rPr sz="13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loyalti</a:t>
            </a:r>
            <a:r>
              <a:rPr sz="13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pengguna.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2887497"/>
            <a:ext cx="6243955" cy="737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105"/>
              </a:spcBef>
            </a:pP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Sejak</a:t>
            </a:r>
            <a:r>
              <a:rPr sz="1350" spc="254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kewajiban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pendaftaran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pembelian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Pertalite</a:t>
            </a:r>
            <a:r>
              <a:rPr sz="1350" spc="25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Solar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bersubsidi diberlakukan,</a:t>
            </a:r>
            <a:r>
              <a:rPr sz="1350" spc="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aplikasi ini menerima</a:t>
            </a:r>
            <a:r>
              <a:rPr sz="13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ribuan</a:t>
            </a:r>
            <a:r>
              <a:rPr sz="1350" spc="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ulasan publik</a:t>
            </a:r>
            <a:r>
              <a:rPr sz="1350" spc="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di</a:t>
            </a:r>
            <a:r>
              <a:rPr sz="13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Google</a:t>
            </a:r>
            <a:r>
              <a:rPr sz="13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Play</a:t>
            </a:r>
            <a:r>
              <a:rPr sz="13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Store</a:t>
            </a:r>
            <a:r>
              <a:rPr sz="13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dapat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dianalisis</a:t>
            </a:r>
            <a:r>
              <a:rPr sz="13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35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melihat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persepsi</a:t>
            </a:r>
            <a:r>
              <a:rPr sz="13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penerimaan</a:t>
            </a:r>
            <a:r>
              <a:rPr sz="13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penggunanya.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3939311"/>
            <a:ext cx="6243320" cy="737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105"/>
              </a:spcBef>
            </a:pP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Studi</a:t>
            </a:r>
            <a:r>
              <a:rPr sz="1350" spc="3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ini</a:t>
            </a:r>
            <a:r>
              <a:rPr sz="1350" spc="3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berfokus</a:t>
            </a:r>
            <a:r>
              <a:rPr sz="1350" spc="3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350" spc="3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50" spc="3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350" spc="3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350" spc="3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MyPertamina</a:t>
            </a:r>
            <a:r>
              <a:rPr sz="1350" spc="3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50" spc="3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mengeksplorasi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apakah</a:t>
            </a:r>
            <a:r>
              <a:rPr sz="1350" spc="26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bintang</a:t>
            </a:r>
            <a:r>
              <a:rPr sz="1350" spc="26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berhubungan</a:t>
            </a:r>
            <a:r>
              <a:rPr sz="1350" spc="27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50" spc="254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50" spc="26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diungkapkan</a:t>
            </a:r>
            <a:r>
              <a:rPr sz="1350" spc="2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dalam</a:t>
            </a:r>
            <a:r>
              <a:rPr sz="1350" spc="2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A1A2D"/>
                </a:solidFill>
                <a:latin typeface="Calibri"/>
                <a:cs typeface="Calibri"/>
              </a:rPr>
              <a:t>teks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ulasan.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4990191"/>
            <a:ext cx="6241415" cy="50228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Analisis</a:t>
            </a:r>
            <a:r>
              <a:rPr sz="1350" spc="1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ini</a:t>
            </a:r>
            <a:r>
              <a:rPr sz="1350" spc="114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bersifat</a:t>
            </a:r>
            <a:r>
              <a:rPr sz="1350" spc="1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eksploratif,</a:t>
            </a:r>
            <a:r>
              <a:rPr sz="1350" spc="1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bertujuan</a:t>
            </a:r>
            <a:r>
              <a:rPr sz="1350" spc="1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mengidentifikasi</a:t>
            </a:r>
            <a:r>
              <a:rPr sz="1350" spc="1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pola</a:t>
            </a:r>
            <a:r>
              <a:rPr sz="1350" spc="10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350" spc="1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50" spc="114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pengguna,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bukan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membangun</a:t>
            </a:r>
            <a:r>
              <a:rPr sz="13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hubungan</a:t>
            </a:r>
            <a:r>
              <a:rPr sz="13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kausalitas</a:t>
            </a:r>
            <a:r>
              <a:rPr sz="135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A1A2D"/>
                </a:solidFill>
                <a:latin typeface="Calibri"/>
                <a:cs typeface="Calibri"/>
              </a:rPr>
              <a:t>pasti.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1607" y="1534667"/>
            <a:ext cx="4269740" cy="1572260"/>
            <a:chOff x="7531607" y="1534667"/>
            <a:chExt cx="4269740" cy="157226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1607" y="1534667"/>
              <a:ext cx="4269486" cy="15720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35239" y="1600199"/>
              <a:ext cx="4069079" cy="1371600"/>
            </a:xfrm>
            <a:custGeom>
              <a:avLst/>
              <a:gdLst/>
              <a:ahLst/>
              <a:cxnLst/>
              <a:rect l="l" t="t" r="r" b="b"/>
              <a:pathLst>
                <a:path w="4069079" h="1371600">
                  <a:moveTo>
                    <a:pt x="39959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98448"/>
                  </a:lnTo>
                  <a:lnTo>
                    <a:pt x="5750" y="1326915"/>
                  </a:lnTo>
                  <a:lnTo>
                    <a:pt x="21431" y="1350168"/>
                  </a:lnTo>
                  <a:lnTo>
                    <a:pt x="44684" y="1365849"/>
                  </a:lnTo>
                  <a:lnTo>
                    <a:pt x="73151" y="1371600"/>
                  </a:lnTo>
                  <a:lnTo>
                    <a:pt x="3995928" y="1371600"/>
                  </a:lnTo>
                  <a:lnTo>
                    <a:pt x="4024395" y="1365849"/>
                  </a:lnTo>
                  <a:lnTo>
                    <a:pt x="4047648" y="1350168"/>
                  </a:lnTo>
                  <a:lnTo>
                    <a:pt x="4063329" y="1326915"/>
                  </a:lnTo>
                  <a:lnTo>
                    <a:pt x="4069079" y="1298448"/>
                  </a:lnTo>
                  <a:lnTo>
                    <a:pt x="4069079" y="73151"/>
                  </a:lnTo>
                  <a:lnTo>
                    <a:pt x="4063329" y="44684"/>
                  </a:lnTo>
                  <a:lnTo>
                    <a:pt x="4047648" y="21431"/>
                  </a:lnTo>
                  <a:lnTo>
                    <a:pt x="4024395" y="5750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E7EE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897748" y="1873961"/>
            <a:ext cx="1278890" cy="869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25" dirty="0">
                <a:solidFill>
                  <a:srgbClr val="0054A3"/>
                </a:solidFill>
                <a:latin typeface="Cambria"/>
                <a:cs typeface="Cambria"/>
              </a:rPr>
              <a:t>150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dikumpulkan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31607" y="3107435"/>
            <a:ext cx="4269740" cy="1572260"/>
            <a:chOff x="7531607" y="3107435"/>
            <a:chExt cx="4269740" cy="157226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1607" y="3107435"/>
              <a:ext cx="4269486" cy="157200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635239" y="3172967"/>
              <a:ext cx="4069079" cy="1371600"/>
            </a:xfrm>
            <a:custGeom>
              <a:avLst/>
              <a:gdLst/>
              <a:ahLst/>
              <a:cxnLst/>
              <a:rect l="l" t="t" r="r" b="b"/>
              <a:pathLst>
                <a:path w="4069079" h="1371600">
                  <a:moveTo>
                    <a:pt x="39959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298448"/>
                  </a:lnTo>
                  <a:lnTo>
                    <a:pt x="5750" y="1326915"/>
                  </a:lnTo>
                  <a:lnTo>
                    <a:pt x="21431" y="1350168"/>
                  </a:lnTo>
                  <a:lnTo>
                    <a:pt x="44684" y="1365849"/>
                  </a:lnTo>
                  <a:lnTo>
                    <a:pt x="73151" y="1371600"/>
                  </a:lnTo>
                  <a:lnTo>
                    <a:pt x="3995928" y="1371600"/>
                  </a:lnTo>
                  <a:lnTo>
                    <a:pt x="4024395" y="1365849"/>
                  </a:lnTo>
                  <a:lnTo>
                    <a:pt x="4047648" y="1350168"/>
                  </a:lnTo>
                  <a:lnTo>
                    <a:pt x="4063329" y="1326915"/>
                  </a:lnTo>
                  <a:lnTo>
                    <a:pt x="4069079" y="1298448"/>
                  </a:lnTo>
                  <a:lnTo>
                    <a:pt x="4069079" y="73152"/>
                  </a:lnTo>
                  <a:lnTo>
                    <a:pt x="4063329" y="44684"/>
                  </a:lnTo>
                  <a:lnTo>
                    <a:pt x="4047648" y="21431"/>
                  </a:lnTo>
                  <a:lnTo>
                    <a:pt x="4024395" y="5750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E6F1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97748" y="3447110"/>
            <a:ext cx="2129790" cy="869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 err="1">
                <a:solidFill>
                  <a:srgbClr val="00843C"/>
                </a:solidFill>
                <a:latin typeface="Cambria"/>
                <a:cs typeface="Cambria"/>
              </a:rPr>
              <a:t>Ags</a:t>
            </a:r>
            <a:r>
              <a:rPr sz="2600" b="1" dirty="0">
                <a:solidFill>
                  <a:srgbClr val="00843C"/>
                </a:solidFill>
                <a:latin typeface="Cambria"/>
                <a:cs typeface="Cambria"/>
              </a:rPr>
              <a:t>–Sep</a:t>
            </a:r>
            <a:r>
              <a:rPr sz="2600" b="1" spc="-25" dirty="0">
                <a:solidFill>
                  <a:srgbClr val="00843C"/>
                </a:solidFill>
                <a:latin typeface="Cambria"/>
                <a:cs typeface="Cambria"/>
              </a:rPr>
              <a:t> </a:t>
            </a:r>
            <a:r>
              <a:rPr sz="2600" b="1" spc="-20" dirty="0">
                <a:solidFill>
                  <a:srgbClr val="00843C"/>
                </a:solidFill>
                <a:latin typeface="Cambria"/>
                <a:cs typeface="Cambria"/>
              </a:rPr>
              <a:t>2026</a:t>
            </a:r>
            <a:endParaRPr sz="26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1200" dirty="0" err="1">
                <a:solidFill>
                  <a:srgbClr val="1A1A2D"/>
                </a:solidFill>
                <a:latin typeface="Calibri"/>
                <a:cs typeface="Calibri"/>
              </a:rPr>
              <a:t>Periode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 err="1">
                <a:solidFill>
                  <a:srgbClr val="1A1A2D"/>
                </a:solidFill>
                <a:latin typeface="Calibri"/>
                <a:cs typeface="Calibri"/>
              </a:rPr>
              <a:t>pengambilan</a:t>
            </a:r>
            <a:r>
              <a:rPr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data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31607" y="4680191"/>
            <a:ext cx="4269740" cy="1572260"/>
            <a:chOff x="7531607" y="4680191"/>
            <a:chExt cx="4269740" cy="157226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31607" y="4680191"/>
              <a:ext cx="4269486" cy="157200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635239" y="4745736"/>
              <a:ext cx="4069079" cy="1371600"/>
            </a:xfrm>
            <a:custGeom>
              <a:avLst/>
              <a:gdLst/>
              <a:ahLst/>
              <a:cxnLst/>
              <a:rect l="l" t="t" r="r" b="b"/>
              <a:pathLst>
                <a:path w="4069079" h="1371600">
                  <a:moveTo>
                    <a:pt x="39959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98448"/>
                  </a:lnTo>
                  <a:lnTo>
                    <a:pt x="5750" y="1326921"/>
                  </a:lnTo>
                  <a:lnTo>
                    <a:pt x="21431" y="1350173"/>
                  </a:lnTo>
                  <a:lnTo>
                    <a:pt x="44684" y="1365851"/>
                  </a:lnTo>
                  <a:lnTo>
                    <a:pt x="73151" y="1371600"/>
                  </a:lnTo>
                  <a:lnTo>
                    <a:pt x="3995928" y="1371600"/>
                  </a:lnTo>
                  <a:lnTo>
                    <a:pt x="4024395" y="1365851"/>
                  </a:lnTo>
                  <a:lnTo>
                    <a:pt x="4047648" y="1350173"/>
                  </a:lnTo>
                  <a:lnTo>
                    <a:pt x="4063329" y="1326921"/>
                  </a:lnTo>
                  <a:lnTo>
                    <a:pt x="4069079" y="1298448"/>
                  </a:lnTo>
                  <a:lnTo>
                    <a:pt x="4069079" y="73151"/>
                  </a:lnTo>
                  <a:lnTo>
                    <a:pt x="4063329" y="44684"/>
                  </a:lnTo>
                  <a:lnTo>
                    <a:pt x="4047648" y="21431"/>
                  </a:lnTo>
                  <a:lnTo>
                    <a:pt x="4024395" y="5750"/>
                  </a:lnTo>
                  <a:lnTo>
                    <a:pt x="3995928" y="0"/>
                  </a:lnTo>
                  <a:close/>
                </a:path>
              </a:pathLst>
            </a:custGeom>
            <a:solidFill>
              <a:srgbClr val="FBE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97748" y="5020132"/>
            <a:ext cx="1803400" cy="869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E3002B"/>
                </a:solidFill>
                <a:latin typeface="Cambria"/>
                <a:cs typeface="Cambria"/>
              </a:rPr>
              <a:t>3.</a:t>
            </a:r>
            <a:r>
              <a:rPr lang="en-US" sz="2600" b="1" dirty="0">
                <a:solidFill>
                  <a:srgbClr val="E3002B"/>
                </a:solidFill>
                <a:latin typeface="Cambria"/>
                <a:cs typeface="Cambria"/>
              </a:rPr>
              <a:t>52</a:t>
            </a:r>
            <a:r>
              <a:rPr sz="2600" b="1" spc="-35" dirty="0">
                <a:solidFill>
                  <a:srgbClr val="E3002B"/>
                </a:solidFill>
                <a:latin typeface="Cambria"/>
                <a:cs typeface="Cambria"/>
              </a:rPr>
              <a:t> </a:t>
            </a:r>
            <a:r>
              <a:rPr sz="2600" b="1" dirty="0">
                <a:solidFill>
                  <a:srgbClr val="E3002B"/>
                </a:solidFill>
                <a:latin typeface="Cambria"/>
                <a:cs typeface="Cambria"/>
              </a:rPr>
              <a:t>/</a:t>
            </a:r>
            <a:r>
              <a:rPr sz="2600" b="1" spc="-10" dirty="0">
                <a:solidFill>
                  <a:srgbClr val="E3002B"/>
                </a:solidFill>
                <a:latin typeface="Cambria"/>
                <a:cs typeface="Cambria"/>
              </a:rPr>
              <a:t> </a:t>
            </a:r>
            <a:r>
              <a:rPr sz="2600" b="1" spc="-50" dirty="0">
                <a:solidFill>
                  <a:srgbClr val="E3002B"/>
                </a:solidFill>
                <a:latin typeface="Cambria"/>
                <a:cs typeface="Cambria"/>
              </a:rPr>
              <a:t>5</a:t>
            </a:r>
            <a:endParaRPr sz="26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rata-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rata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sampel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6192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F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O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K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U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S</a:t>
            </a:r>
            <a:r>
              <a:rPr sz="1200" b="1" spc="39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P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L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843C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Tujuan</a:t>
            </a:r>
            <a:r>
              <a:rPr spc="-90" dirty="0"/>
              <a:t> </a:t>
            </a:r>
            <a:r>
              <a:rPr dirty="0"/>
              <a:t>&amp;</a:t>
            </a:r>
            <a:r>
              <a:rPr spc="-75" dirty="0"/>
              <a:t> </a:t>
            </a:r>
            <a:r>
              <a:rPr spc="-10" dirty="0"/>
              <a:t>Pertanyaan</a:t>
            </a:r>
            <a:r>
              <a:rPr spc="-95" dirty="0"/>
              <a:t> </a:t>
            </a:r>
            <a:r>
              <a:rPr spc="-10" dirty="0"/>
              <a:t>Penelitian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34667"/>
            <a:ext cx="5229860" cy="4681220"/>
            <a:chOff x="399288" y="1534667"/>
            <a:chExt cx="5229860" cy="4681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34667"/>
              <a:ext cx="5229606" cy="46809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5029200" cy="4480560"/>
            </a:xfrm>
            <a:custGeom>
              <a:avLst/>
              <a:gdLst/>
              <a:ahLst/>
              <a:cxnLst/>
              <a:rect l="l" t="t" r="r" b="b"/>
              <a:pathLst>
                <a:path w="5029200" h="4480560">
                  <a:moveTo>
                    <a:pt x="4956047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4407395"/>
                  </a:lnTo>
                  <a:lnTo>
                    <a:pt x="5749" y="4435875"/>
                  </a:lnTo>
                  <a:lnTo>
                    <a:pt x="21428" y="4459131"/>
                  </a:lnTo>
                  <a:lnTo>
                    <a:pt x="44684" y="4474810"/>
                  </a:lnTo>
                  <a:lnTo>
                    <a:pt x="73164" y="4480560"/>
                  </a:lnTo>
                  <a:lnTo>
                    <a:pt x="4956047" y="4480560"/>
                  </a:lnTo>
                  <a:lnTo>
                    <a:pt x="4984515" y="4474810"/>
                  </a:lnTo>
                  <a:lnTo>
                    <a:pt x="5007768" y="4459131"/>
                  </a:lnTo>
                  <a:lnTo>
                    <a:pt x="5023449" y="4435875"/>
                  </a:lnTo>
                  <a:lnTo>
                    <a:pt x="5029200" y="4407395"/>
                  </a:lnTo>
                  <a:lnTo>
                    <a:pt x="5029200" y="73151"/>
                  </a:lnTo>
                  <a:lnTo>
                    <a:pt x="5023449" y="44684"/>
                  </a:lnTo>
                  <a:lnTo>
                    <a:pt x="5007768" y="21431"/>
                  </a:lnTo>
                  <a:lnTo>
                    <a:pt x="4984515" y="5750"/>
                  </a:lnTo>
                  <a:lnTo>
                    <a:pt x="49560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259" y="1925777"/>
            <a:ext cx="5264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54A3"/>
                </a:solidFill>
                <a:latin typeface="Calibri"/>
                <a:cs typeface="Calibri"/>
              </a:rPr>
              <a:t>Tujuan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2343378"/>
            <a:ext cx="353123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  <a:tabLst>
                <a:tab pos="1391920" algn="l"/>
                <a:tab pos="1763395" algn="l"/>
                <a:tab pos="2534920" algn="l"/>
                <a:tab pos="3141980" algn="l"/>
              </a:tabLst>
            </a:pP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Menganalisis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		</a:t>
            </a: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sentimen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	</a:t>
            </a:r>
            <a:r>
              <a:rPr sz="1700" b="1" spc="-25" dirty="0">
                <a:solidFill>
                  <a:srgbClr val="0A1E3C"/>
                </a:solidFill>
                <a:latin typeface="Cambria"/>
                <a:cs typeface="Cambria"/>
              </a:rPr>
              <a:t>dan </a:t>
            </a: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penerimaan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	</a:t>
            </a: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pengguna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	</a:t>
            </a: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terhadap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0583" y="2343378"/>
            <a:ext cx="814069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4965">
              <a:lnSpc>
                <a:spcPct val="114700"/>
              </a:lnSpc>
              <a:spcBef>
                <a:spcPts val="100"/>
              </a:spcBef>
            </a:pPr>
            <a:r>
              <a:rPr sz="1700" b="1" spc="-20" dirty="0">
                <a:solidFill>
                  <a:srgbClr val="0A1E3C"/>
                </a:solidFill>
                <a:latin typeface="Cambria"/>
                <a:cs typeface="Cambria"/>
              </a:rPr>
              <a:t>pola </a:t>
            </a: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aplikasi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2939643"/>
            <a:ext cx="441388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</a:pP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MyPertamina</a:t>
            </a:r>
            <a:r>
              <a:rPr sz="1700" b="1" spc="100" dirty="0">
                <a:solidFill>
                  <a:srgbClr val="0A1E3C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berdasarkan</a:t>
            </a:r>
            <a:r>
              <a:rPr sz="1700" b="1" spc="125" dirty="0">
                <a:solidFill>
                  <a:srgbClr val="0A1E3C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ulasan</a:t>
            </a:r>
            <a:r>
              <a:rPr sz="1700" b="1" spc="125" dirty="0">
                <a:solidFill>
                  <a:srgbClr val="0A1E3C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publik</a:t>
            </a:r>
            <a:r>
              <a:rPr sz="1700" b="1" spc="110" dirty="0">
                <a:solidFill>
                  <a:srgbClr val="0A1E3C"/>
                </a:solidFill>
                <a:latin typeface="Cambria"/>
                <a:cs typeface="Cambria"/>
              </a:rPr>
              <a:t> </a:t>
            </a:r>
            <a:r>
              <a:rPr sz="1700" b="1" spc="-25" dirty="0">
                <a:solidFill>
                  <a:srgbClr val="0A1E3C"/>
                </a:solidFill>
                <a:latin typeface="Cambria"/>
                <a:cs typeface="Cambria"/>
              </a:rPr>
              <a:t>di 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Google</a:t>
            </a:r>
            <a:r>
              <a:rPr sz="1700" b="1" spc="-70" dirty="0">
                <a:solidFill>
                  <a:srgbClr val="0A1E3C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0A1E3C"/>
                </a:solidFill>
                <a:latin typeface="Cambria"/>
                <a:cs typeface="Cambria"/>
              </a:rPr>
              <a:t>Play</a:t>
            </a:r>
            <a:r>
              <a:rPr sz="1700" b="1" spc="-55" dirty="0">
                <a:solidFill>
                  <a:srgbClr val="0A1E3C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0A1E3C"/>
                </a:solidFill>
                <a:latin typeface="Cambria"/>
                <a:cs typeface="Cambria"/>
              </a:rPr>
              <a:t>Store.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59" y="5147513"/>
            <a:ext cx="39014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1250" i="1" spc="-10" dirty="0">
                <a:solidFill>
                  <a:srgbClr val="6B7180"/>
                </a:solidFill>
                <a:latin typeface="Calibri"/>
                <a:cs typeface="Calibri"/>
              </a:rPr>
              <a:t>Pendekatan:</a:t>
            </a:r>
            <a:r>
              <a:rPr sz="1250" i="1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6B7180"/>
                </a:solidFill>
                <a:latin typeface="Calibri"/>
                <a:cs typeface="Calibri"/>
              </a:rPr>
              <a:t>deskriptif kuantitatif</a:t>
            </a:r>
            <a:r>
              <a:rPr sz="12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6B7180"/>
                </a:solidFill>
                <a:latin typeface="Calibri"/>
                <a:cs typeface="Calibri"/>
              </a:rPr>
              <a:t>menggunakan</a:t>
            </a:r>
            <a:r>
              <a:rPr sz="1250" i="1" dirty="0">
                <a:solidFill>
                  <a:srgbClr val="6B7180"/>
                </a:solidFill>
                <a:latin typeface="Calibri"/>
                <a:cs typeface="Calibri"/>
              </a:rPr>
              <a:t> data</a:t>
            </a:r>
            <a:r>
              <a:rPr sz="1250" i="1" spc="-10" dirty="0">
                <a:solidFill>
                  <a:srgbClr val="6B7180"/>
                </a:solidFill>
                <a:latin typeface="Calibri"/>
                <a:cs typeface="Calibri"/>
              </a:rPr>
              <a:t> ulasan </a:t>
            </a:r>
            <a:r>
              <a:rPr sz="1250" i="1" dirty="0">
                <a:solidFill>
                  <a:srgbClr val="6B7180"/>
                </a:solidFill>
                <a:latin typeface="Calibri"/>
                <a:cs typeface="Calibri"/>
              </a:rPr>
              <a:t>pengguna</a:t>
            </a:r>
            <a:r>
              <a:rPr sz="1250" i="1" spc="-2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6B7180"/>
                </a:solidFill>
                <a:latin typeface="Calibri"/>
                <a:cs typeface="Calibri"/>
              </a:rPr>
              <a:t>yang</a:t>
            </a:r>
            <a:r>
              <a:rPr sz="125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6B7180"/>
                </a:solidFill>
                <a:latin typeface="Calibri"/>
                <a:cs typeface="Calibri"/>
              </a:rPr>
              <a:t>dikumpulkan</a:t>
            </a:r>
            <a:r>
              <a:rPr sz="125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6B7180"/>
                </a:solidFill>
                <a:latin typeface="Calibri"/>
                <a:cs typeface="Calibri"/>
              </a:rPr>
              <a:t>pada</a:t>
            </a:r>
            <a:r>
              <a:rPr sz="1250" i="1" spc="-2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6B7180"/>
                </a:solidFill>
                <a:latin typeface="Calibri"/>
                <a:cs typeface="Calibri"/>
              </a:rPr>
              <a:t>satu</a:t>
            </a:r>
            <a:r>
              <a:rPr sz="125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6B7180"/>
                </a:solidFill>
                <a:latin typeface="Calibri"/>
                <a:cs typeface="Calibri"/>
              </a:rPr>
              <a:t>periode</a:t>
            </a:r>
            <a:r>
              <a:rPr sz="125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6B7180"/>
                </a:solidFill>
                <a:latin typeface="Calibri"/>
                <a:cs typeface="Calibri"/>
              </a:rPr>
              <a:t>waktu.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02808" y="1534667"/>
            <a:ext cx="6098540" cy="4681220"/>
            <a:chOff x="5702808" y="1534667"/>
            <a:chExt cx="6098540" cy="468122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808" y="1534667"/>
              <a:ext cx="6098286" cy="46809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06440" y="1600199"/>
              <a:ext cx="5897880" cy="4480560"/>
            </a:xfrm>
            <a:custGeom>
              <a:avLst/>
              <a:gdLst/>
              <a:ahLst/>
              <a:cxnLst/>
              <a:rect l="l" t="t" r="r" b="b"/>
              <a:pathLst>
                <a:path w="5897880" h="4480560">
                  <a:moveTo>
                    <a:pt x="5824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407395"/>
                  </a:lnTo>
                  <a:lnTo>
                    <a:pt x="5750" y="4435875"/>
                  </a:lnTo>
                  <a:lnTo>
                    <a:pt x="21431" y="4459131"/>
                  </a:lnTo>
                  <a:lnTo>
                    <a:pt x="44684" y="4474810"/>
                  </a:lnTo>
                  <a:lnTo>
                    <a:pt x="73151" y="4480560"/>
                  </a:lnTo>
                  <a:lnTo>
                    <a:pt x="5824728" y="4480560"/>
                  </a:lnTo>
                  <a:lnTo>
                    <a:pt x="5853195" y="4474810"/>
                  </a:lnTo>
                  <a:lnTo>
                    <a:pt x="5876448" y="4459131"/>
                  </a:lnTo>
                  <a:lnTo>
                    <a:pt x="5892129" y="4435875"/>
                  </a:lnTo>
                  <a:lnTo>
                    <a:pt x="5897880" y="4407395"/>
                  </a:lnTo>
                  <a:lnTo>
                    <a:pt x="5897880" y="73151"/>
                  </a:lnTo>
                  <a:lnTo>
                    <a:pt x="5892129" y="44684"/>
                  </a:lnTo>
                  <a:lnTo>
                    <a:pt x="5876448" y="21431"/>
                  </a:lnTo>
                  <a:lnTo>
                    <a:pt x="5853195" y="5750"/>
                  </a:lnTo>
                  <a:lnTo>
                    <a:pt x="5824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14669" y="1880362"/>
            <a:ext cx="11480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843C"/>
                </a:solidFill>
                <a:latin typeface="Calibri"/>
                <a:cs typeface="Calibri"/>
              </a:rPr>
              <a:t>Pertanyaan</a:t>
            </a:r>
            <a:r>
              <a:rPr sz="1400" b="1" spc="-5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843C"/>
                </a:solidFill>
                <a:latin typeface="Calibri"/>
                <a:cs typeface="Calibri"/>
              </a:rPr>
              <a:t>Inti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26479" y="237743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236051" y="378976"/>
                </a:lnTo>
                <a:lnTo>
                  <a:pt x="276468" y="364529"/>
                </a:lnTo>
                <a:lnTo>
                  <a:pt x="312122" y="341860"/>
                </a:lnTo>
                <a:lnTo>
                  <a:pt x="341860" y="312122"/>
                </a:lnTo>
                <a:lnTo>
                  <a:pt x="364529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29" y="107579"/>
                </a:lnTo>
                <a:lnTo>
                  <a:pt x="341860" y="71925"/>
                </a:lnTo>
                <a:lnTo>
                  <a:pt x="312122" y="42187"/>
                </a:lnTo>
                <a:lnTo>
                  <a:pt x="276468" y="19518"/>
                </a:lnTo>
                <a:lnTo>
                  <a:pt x="236051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E30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70752" y="2464435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63308" y="2446426"/>
            <a:ext cx="4472305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Apa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paling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dominan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aplikasi MyPertamina?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26479" y="3246120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7"/>
                </a:lnTo>
                <a:lnTo>
                  <a:pt x="236051" y="378976"/>
                </a:lnTo>
                <a:lnTo>
                  <a:pt x="276468" y="364529"/>
                </a:lnTo>
                <a:lnTo>
                  <a:pt x="312122" y="341860"/>
                </a:lnTo>
                <a:lnTo>
                  <a:pt x="341860" y="312122"/>
                </a:lnTo>
                <a:lnTo>
                  <a:pt x="364529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29" y="107579"/>
                </a:lnTo>
                <a:lnTo>
                  <a:pt x="341860" y="71925"/>
                </a:lnTo>
                <a:lnTo>
                  <a:pt x="312122" y="42187"/>
                </a:lnTo>
                <a:lnTo>
                  <a:pt x="276468" y="19518"/>
                </a:lnTo>
                <a:lnTo>
                  <a:pt x="236051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70752" y="3333114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63308" y="3444621"/>
            <a:ext cx="41935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Apakah</a:t>
            </a:r>
            <a:r>
              <a:rPr sz="13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3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bintang</a:t>
            </a:r>
            <a:r>
              <a:rPr sz="13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berhubungan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3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ulasan?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26479" y="4114800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236051" y="378976"/>
                </a:lnTo>
                <a:lnTo>
                  <a:pt x="276468" y="364529"/>
                </a:lnTo>
                <a:lnTo>
                  <a:pt x="312122" y="341860"/>
                </a:lnTo>
                <a:lnTo>
                  <a:pt x="341860" y="312122"/>
                </a:lnTo>
                <a:lnTo>
                  <a:pt x="364529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29" y="107579"/>
                </a:lnTo>
                <a:lnTo>
                  <a:pt x="341860" y="71925"/>
                </a:lnTo>
                <a:lnTo>
                  <a:pt x="312122" y="42187"/>
                </a:lnTo>
                <a:lnTo>
                  <a:pt x="276468" y="19518"/>
                </a:lnTo>
                <a:lnTo>
                  <a:pt x="236051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008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70752" y="4202048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63308" y="4184040"/>
            <a:ext cx="4464685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Tema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keluhan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apa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paling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sering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muncul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bernada negatif?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26479" y="4983479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6" y="5071"/>
                </a:lnTo>
                <a:lnTo>
                  <a:pt x="107579" y="19518"/>
                </a:lnTo>
                <a:lnTo>
                  <a:pt x="71925" y="42187"/>
                </a:lnTo>
                <a:lnTo>
                  <a:pt x="42187" y="71925"/>
                </a:lnTo>
                <a:lnTo>
                  <a:pt x="19518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8" y="276468"/>
                </a:lnTo>
                <a:lnTo>
                  <a:pt x="42187" y="312122"/>
                </a:lnTo>
                <a:lnTo>
                  <a:pt x="71925" y="341860"/>
                </a:lnTo>
                <a:lnTo>
                  <a:pt x="107579" y="364529"/>
                </a:lnTo>
                <a:lnTo>
                  <a:pt x="147996" y="378976"/>
                </a:lnTo>
                <a:lnTo>
                  <a:pt x="192024" y="384048"/>
                </a:lnTo>
                <a:lnTo>
                  <a:pt x="236051" y="378976"/>
                </a:lnTo>
                <a:lnTo>
                  <a:pt x="276468" y="364529"/>
                </a:lnTo>
                <a:lnTo>
                  <a:pt x="312122" y="341860"/>
                </a:lnTo>
                <a:lnTo>
                  <a:pt x="341860" y="312122"/>
                </a:lnTo>
                <a:lnTo>
                  <a:pt x="364529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29" y="107579"/>
                </a:lnTo>
                <a:lnTo>
                  <a:pt x="341860" y="71925"/>
                </a:lnTo>
                <a:lnTo>
                  <a:pt x="312122" y="42187"/>
                </a:lnTo>
                <a:lnTo>
                  <a:pt x="276468" y="19518"/>
                </a:lnTo>
                <a:lnTo>
                  <a:pt x="236051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E30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270752" y="5070728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63308" y="5053062"/>
            <a:ext cx="4501515" cy="461009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Apakah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panjang</a:t>
            </a:r>
            <a:r>
              <a:rPr sz="13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berhubungan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3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diberikan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pengguna?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22828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l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38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D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39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B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r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d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r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k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5W1H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34642"/>
            <a:ext cx="11383645" cy="1005205"/>
            <a:chOff x="399288" y="1534642"/>
            <a:chExt cx="11383645" cy="1005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34642"/>
              <a:ext cx="11383518" cy="10051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80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20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2"/>
                  </a:lnTo>
                  <a:lnTo>
                    <a:pt x="11109960" y="804672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20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088" y="17739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3716" y="1897126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0010" y="1903222"/>
            <a:ext cx="4648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0A1E3C"/>
                </a:solidFill>
                <a:latin typeface="Calibri"/>
                <a:cs typeface="Calibri"/>
              </a:rPr>
              <a:t>WHAT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7807" y="1788921"/>
            <a:ext cx="71589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Menganalisis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secara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mendalam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faktor-faktor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utama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saja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yang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berasosiasi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dengan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fluktuasi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jumlah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ulasan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positif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dan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negatif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terhadap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Google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Play.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9288" y="2430754"/>
            <a:ext cx="11383645" cy="1005205"/>
            <a:chOff x="399288" y="2430754"/>
            <a:chExt cx="11383645" cy="100520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2430754"/>
              <a:ext cx="11383518" cy="10051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2920" y="2496311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20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2"/>
                  </a:lnTo>
                  <a:lnTo>
                    <a:pt x="11109960" y="804672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20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4088" y="267004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3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83716" y="2793619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9153" y="2763139"/>
            <a:ext cx="4057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5" dirty="0">
                <a:solidFill>
                  <a:srgbClr val="0A1E3C"/>
                </a:solidFill>
                <a:latin typeface="Calibri"/>
                <a:cs typeface="Calibri"/>
              </a:rPr>
              <a:t>WHO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5615" y="2685415"/>
            <a:ext cx="708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Mengidentifikasi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profil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demografi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mayoritas </a:t>
            </a:r>
            <a:r>
              <a:rPr sz="1200" dirty="0">
                <a:latin typeface="Calibri"/>
                <a:cs typeface="Calibri"/>
              </a:rPr>
              <a:t>pengguna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aplikasi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ini,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terutama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mereka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yang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terdampak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langsung </a:t>
            </a:r>
            <a:r>
              <a:rPr sz="1200" dirty="0">
                <a:latin typeface="Calibri"/>
                <a:cs typeface="Calibri"/>
              </a:rPr>
              <a:t>oleh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kebijakan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regulasi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subsidi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bahan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bakar.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288" y="3326866"/>
            <a:ext cx="11383645" cy="1005205"/>
            <a:chOff x="399288" y="3326866"/>
            <a:chExt cx="11383645" cy="100520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3326866"/>
              <a:ext cx="11383518" cy="10051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2920" y="3392424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19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1"/>
                  </a:lnTo>
                  <a:lnTo>
                    <a:pt x="11109960" y="804671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19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4088" y="356616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84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3716" y="3689984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9153" y="3658946"/>
            <a:ext cx="554990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0A1E3C"/>
                </a:solidFill>
                <a:latin typeface="Calibri"/>
                <a:cs typeface="Calibri"/>
              </a:rPr>
              <a:t>WHERE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85615" y="3581222"/>
            <a:ext cx="70421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Sumber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utama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pengumpulan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ulasan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(review)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rating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historis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difokuskan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secara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eksklusif dari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publik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pada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distribusi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Google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Store.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9288" y="4222978"/>
            <a:ext cx="11383645" cy="1005205"/>
            <a:chOff x="399288" y="4222978"/>
            <a:chExt cx="11383645" cy="100520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4222978"/>
              <a:ext cx="11383518" cy="100510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2920" y="4288536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19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1"/>
                  </a:lnTo>
                  <a:lnTo>
                    <a:pt x="11109960" y="804671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19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4088" y="446227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3716" y="458609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9153" y="4555616"/>
            <a:ext cx="486409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0A1E3C"/>
                </a:solidFill>
                <a:latin typeface="Calibri"/>
                <a:cs typeface="Calibri"/>
              </a:rPr>
              <a:t>WHEN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85615" y="4523613"/>
            <a:ext cx="7102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Dataset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kuantitatif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yang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dianalisis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ini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ditetapkan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dengan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batas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waktu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penarikan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(collection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date)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pada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 err="1">
                <a:latin typeface="Calibri"/>
                <a:cs typeface="Calibri"/>
              </a:rPr>
              <a:t>pemantauan</a:t>
            </a:r>
            <a:r>
              <a:rPr lang="en-US"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bulan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Agustus-September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9288" y="5119115"/>
            <a:ext cx="11383645" cy="1005205"/>
            <a:chOff x="399288" y="5119115"/>
            <a:chExt cx="11383645" cy="100520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5119115"/>
              <a:ext cx="11383518" cy="100510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02920" y="5184647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19"/>
                  </a:lnTo>
                  <a:lnTo>
                    <a:pt x="5748" y="759993"/>
                  </a:lnTo>
                  <a:lnTo>
                    <a:pt x="21426" y="783245"/>
                  </a:lnTo>
                  <a:lnTo>
                    <a:pt x="44678" y="798923"/>
                  </a:lnTo>
                  <a:lnTo>
                    <a:pt x="73151" y="804671"/>
                  </a:lnTo>
                  <a:lnTo>
                    <a:pt x="11109960" y="804671"/>
                  </a:lnTo>
                  <a:lnTo>
                    <a:pt x="11138427" y="798923"/>
                  </a:lnTo>
                  <a:lnTo>
                    <a:pt x="11161680" y="783245"/>
                  </a:lnTo>
                  <a:lnTo>
                    <a:pt x="11177361" y="759993"/>
                  </a:lnTo>
                  <a:lnTo>
                    <a:pt x="11183112" y="731519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4088" y="53583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3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83716" y="5482539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59153" y="5452059"/>
            <a:ext cx="37909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5" dirty="0">
                <a:solidFill>
                  <a:srgbClr val="0A1E3C"/>
                </a:solidFill>
                <a:latin typeface="Calibri"/>
                <a:cs typeface="Calibri"/>
              </a:rPr>
              <a:t>WHY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85615" y="5333238"/>
            <a:ext cx="67125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Menyelidiki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akar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masalah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mengapa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masih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terdapat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banyak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ulasan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dengan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rating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(sangat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rendah)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meskipun terdapat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kemudahan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pada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fitur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promosi </a:t>
            </a:r>
            <a:r>
              <a:rPr sz="1200" spc="-10" dirty="0">
                <a:latin typeface="Calibri"/>
                <a:cs typeface="Calibri"/>
              </a:rPr>
              <a:t>loyalitas.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22821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l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38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D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39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B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r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d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r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k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5W1H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86511" y="1324355"/>
            <a:ext cx="11383645" cy="2879725"/>
            <a:chOff x="286511" y="1324355"/>
            <a:chExt cx="11383645" cy="2879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11" y="1324355"/>
              <a:ext cx="11383518" cy="28795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0778" y="1389887"/>
              <a:ext cx="11183620" cy="2679700"/>
            </a:xfrm>
            <a:custGeom>
              <a:avLst/>
              <a:gdLst/>
              <a:ahLst/>
              <a:cxnLst/>
              <a:rect l="l" t="t" r="r" b="b"/>
              <a:pathLst>
                <a:path w="11183620" h="2679700">
                  <a:moveTo>
                    <a:pt x="10939526" y="0"/>
                  </a:moveTo>
                  <a:lnTo>
                    <a:pt x="243560" y="0"/>
                  </a:lnTo>
                  <a:lnTo>
                    <a:pt x="194473" y="4950"/>
                  </a:lnTo>
                  <a:lnTo>
                    <a:pt x="148754" y="19147"/>
                  </a:lnTo>
                  <a:lnTo>
                    <a:pt x="107381" y="41610"/>
                  </a:lnTo>
                  <a:lnTo>
                    <a:pt x="71335" y="71358"/>
                  </a:lnTo>
                  <a:lnTo>
                    <a:pt x="41595" y="107410"/>
                  </a:lnTo>
                  <a:lnTo>
                    <a:pt x="19139" y="148786"/>
                  </a:lnTo>
                  <a:lnTo>
                    <a:pt x="4948" y="194505"/>
                  </a:lnTo>
                  <a:lnTo>
                    <a:pt x="0" y="243586"/>
                  </a:lnTo>
                  <a:lnTo>
                    <a:pt x="0" y="2435606"/>
                  </a:lnTo>
                  <a:lnTo>
                    <a:pt x="4948" y="2484686"/>
                  </a:lnTo>
                  <a:lnTo>
                    <a:pt x="19139" y="2530405"/>
                  </a:lnTo>
                  <a:lnTo>
                    <a:pt x="41595" y="2571781"/>
                  </a:lnTo>
                  <a:lnTo>
                    <a:pt x="71335" y="2607833"/>
                  </a:lnTo>
                  <a:lnTo>
                    <a:pt x="107381" y="2637581"/>
                  </a:lnTo>
                  <a:lnTo>
                    <a:pt x="148754" y="2660044"/>
                  </a:lnTo>
                  <a:lnTo>
                    <a:pt x="194473" y="2674241"/>
                  </a:lnTo>
                  <a:lnTo>
                    <a:pt x="243560" y="2679192"/>
                  </a:lnTo>
                  <a:lnTo>
                    <a:pt x="10939526" y="2679192"/>
                  </a:lnTo>
                  <a:lnTo>
                    <a:pt x="10988606" y="2674241"/>
                  </a:lnTo>
                  <a:lnTo>
                    <a:pt x="11034325" y="2660044"/>
                  </a:lnTo>
                  <a:lnTo>
                    <a:pt x="11075701" y="2637581"/>
                  </a:lnTo>
                  <a:lnTo>
                    <a:pt x="11111753" y="2607833"/>
                  </a:lnTo>
                  <a:lnTo>
                    <a:pt x="11141501" y="2571781"/>
                  </a:lnTo>
                  <a:lnTo>
                    <a:pt x="11163964" y="2530405"/>
                  </a:lnTo>
                  <a:lnTo>
                    <a:pt x="11178161" y="2484686"/>
                  </a:lnTo>
                  <a:lnTo>
                    <a:pt x="11183112" y="2435606"/>
                  </a:lnTo>
                  <a:lnTo>
                    <a:pt x="11183112" y="243586"/>
                  </a:lnTo>
                  <a:lnTo>
                    <a:pt x="11178161" y="194505"/>
                  </a:lnTo>
                  <a:lnTo>
                    <a:pt x="11163964" y="148786"/>
                  </a:lnTo>
                  <a:lnTo>
                    <a:pt x="11141501" y="107410"/>
                  </a:lnTo>
                  <a:lnTo>
                    <a:pt x="11111753" y="71358"/>
                  </a:lnTo>
                  <a:lnTo>
                    <a:pt x="11075701" y="41610"/>
                  </a:lnTo>
                  <a:lnTo>
                    <a:pt x="11034325" y="19147"/>
                  </a:lnTo>
                  <a:lnTo>
                    <a:pt x="10988606" y="4950"/>
                  </a:lnTo>
                  <a:lnTo>
                    <a:pt x="109395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9990" y="172059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703" y="452555"/>
                  </a:lnTo>
                  <a:lnTo>
                    <a:pt x="317628" y="439233"/>
                  </a:lnTo>
                  <a:lnTo>
                    <a:pt x="356461" y="418154"/>
                  </a:lnTo>
                  <a:lnTo>
                    <a:pt x="390286" y="390239"/>
                  </a:lnTo>
                  <a:lnTo>
                    <a:pt x="418188" y="356406"/>
                  </a:lnTo>
                  <a:lnTo>
                    <a:pt x="439251" y="317575"/>
                  </a:lnTo>
                  <a:lnTo>
                    <a:pt x="452560" y="274666"/>
                  </a:lnTo>
                  <a:lnTo>
                    <a:pt x="457200" y="228600"/>
                  </a:lnTo>
                  <a:lnTo>
                    <a:pt x="452560" y="182533"/>
                  </a:lnTo>
                  <a:lnTo>
                    <a:pt x="439251" y="139624"/>
                  </a:lnTo>
                  <a:lnTo>
                    <a:pt x="418188" y="100793"/>
                  </a:lnTo>
                  <a:lnTo>
                    <a:pt x="390286" y="66960"/>
                  </a:lnTo>
                  <a:lnTo>
                    <a:pt x="356461" y="39045"/>
                  </a:lnTo>
                  <a:lnTo>
                    <a:pt x="317628" y="17966"/>
                  </a:lnTo>
                  <a:lnTo>
                    <a:pt x="274703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180203" y="1843786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1289" y="1735963"/>
            <a:ext cx="696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A1E3C"/>
                </a:solidFill>
                <a:latin typeface="Calibri"/>
                <a:cs typeface="Calibri"/>
              </a:rPr>
              <a:t>HOW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1610" y="2496439"/>
            <a:ext cx="67456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Mengukur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bagaimana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hubungan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linier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seberapa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kuat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korelasi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antara </a:t>
            </a:r>
            <a:r>
              <a:rPr sz="1800" dirty="0">
                <a:latin typeface="Calibri"/>
                <a:cs typeface="Calibri"/>
              </a:rPr>
              <a:t>kualitas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antarmuka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aplikasi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dengan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persentase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penerimaan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pengguna </a:t>
            </a:r>
            <a:r>
              <a:rPr sz="1800" spc="-20" dirty="0">
                <a:latin typeface="Calibri"/>
                <a:cs typeface="Calibri"/>
              </a:rPr>
              <a:t>(Technology</a:t>
            </a:r>
            <a:r>
              <a:rPr sz="1800" spc="-10" dirty="0">
                <a:latin typeface="Calibri"/>
                <a:cs typeface="Calibri"/>
              </a:rPr>
              <a:t> Acceptance).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25927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O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D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39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P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G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U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P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U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L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r>
              <a:rPr sz="1200" b="1" spc="3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D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Dari</a:t>
            </a:r>
            <a:r>
              <a:rPr spc="-40" dirty="0"/>
              <a:t> </a:t>
            </a:r>
            <a:r>
              <a:rPr dirty="0"/>
              <a:t>Mana</a:t>
            </a:r>
            <a:r>
              <a:rPr spc="-25" dirty="0"/>
              <a:t> </a:t>
            </a:r>
            <a:r>
              <a:rPr dirty="0"/>
              <a:t>dan</a:t>
            </a:r>
            <a:r>
              <a:rPr spc="-30" dirty="0"/>
              <a:t> </a:t>
            </a:r>
            <a:r>
              <a:rPr dirty="0"/>
              <a:t>Bagaimana</a:t>
            </a:r>
            <a:r>
              <a:rPr spc="-25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Diperoleh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34642"/>
            <a:ext cx="11383645" cy="1005205"/>
            <a:chOff x="399288" y="1534642"/>
            <a:chExt cx="11383645" cy="1005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34642"/>
              <a:ext cx="11383518" cy="10051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80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20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2"/>
                  </a:lnTo>
                  <a:lnTo>
                    <a:pt x="11109960" y="804672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20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088" y="17739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3716" y="1897126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153" y="1866646"/>
            <a:ext cx="1396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Sumber</a:t>
            </a:r>
            <a:r>
              <a:rPr sz="1350" b="1" spc="-5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&amp;</a:t>
            </a:r>
            <a:r>
              <a:rPr sz="1350" b="1" spc="-10" dirty="0">
                <a:solidFill>
                  <a:srgbClr val="0A1E3C"/>
                </a:solidFill>
                <a:latin typeface="Calibri"/>
                <a:cs typeface="Calibri"/>
              </a:rPr>
              <a:t> Platform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5615" y="1888616"/>
            <a:ext cx="5035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publik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MyPertamina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tersedia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di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Google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Play</a:t>
            </a:r>
            <a:r>
              <a:rPr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Store.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9288" y="2430754"/>
            <a:ext cx="11383645" cy="1005205"/>
            <a:chOff x="399288" y="2430754"/>
            <a:chExt cx="11383645" cy="100520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2430754"/>
              <a:ext cx="11383518" cy="10051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2920" y="2496311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20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2"/>
                  </a:lnTo>
                  <a:lnTo>
                    <a:pt x="11109960" y="804672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20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4088" y="267004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3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83716" y="2793619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9153" y="2763139"/>
            <a:ext cx="19081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Alasan</a:t>
            </a:r>
            <a:r>
              <a:rPr sz="1350" b="1" spc="-1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0A1E3C"/>
                </a:solidFill>
                <a:latin typeface="Calibri"/>
                <a:cs typeface="Calibri"/>
              </a:rPr>
              <a:t>Pemilihan</a:t>
            </a:r>
            <a:r>
              <a:rPr sz="1350" b="1" spc="-1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0A1E3C"/>
                </a:solidFill>
                <a:latin typeface="Calibri"/>
                <a:cs typeface="Calibri"/>
              </a:rPr>
              <a:t>Platform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5615" y="2666197"/>
            <a:ext cx="7136765" cy="4279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Play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Store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menampilkan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terbuka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dari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terverifikasi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aplikasi,</a:t>
            </a:r>
            <a:r>
              <a:rPr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lengkap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bintang,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tanggal,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 err="1">
                <a:solidFill>
                  <a:srgbClr val="1A1A2D"/>
                </a:solidFill>
                <a:latin typeface="Calibri"/>
                <a:cs typeface="Calibri"/>
              </a:rPr>
              <a:t>jumlah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like</a:t>
            </a:r>
            <a:r>
              <a:rPr lang="en-US"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lang="en-US" sz="1200" spc="-15" dirty="0" err="1">
                <a:solidFill>
                  <a:srgbClr val="1A1A2D"/>
                </a:solidFill>
                <a:latin typeface="Calibri"/>
                <a:cs typeface="Calibri"/>
              </a:rPr>
              <a:t>s</a:t>
            </a:r>
            <a:r>
              <a:rPr lang="en-US" sz="1200" spc="-10" dirty="0" err="1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lang="en-US" sz="1200" spc="-15" dirty="0" err="1">
                <a:solidFill>
                  <a:srgbClr val="1A1A2D"/>
                </a:solidFill>
                <a:latin typeface="Calibri"/>
                <a:cs typeface="Calibri"/>
              </a:rPr>
              <a:t>hingga</a:t>
            </a:r>
            <a:r>
              <a:rPr lang="en-US"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 err="1">
                <a:solidFill>
                  <a:srgbClr val="1A1A2D"/>
                </a:solidFill>
                <a:latin typeface="Calibri"/>
                <a:cs typeface="Calibri"/>
              </a:rPr>
              <a:t>cocok</a:t>
            </a:r>
            <a:r>
              <a:rPr sz="120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mengukur</a:t>
            </a:r>
            <a:r>
              <a:rPr sz="12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penerimaan</a:t>
            </a:r>
            <a:r>
              <a:rPr sz="12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pengguna.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288" y="3326866"/>
            <a:ext cx="11383645" cy="1005205"/>
            <a:chOff x="399288" y="3326866"/>
            <a:chExt cx="11383645" cy="100520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3326866"/>
              <a:ext cx="11383518" cy="10051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2920" y="3392424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19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1"/>
                  </a:lnTo>
                  <a:lnTo>
                    <a:pt x="11109960" y="804671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19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4088" y="356616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84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3716" y="3689984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59153" y="3658946"/>
            <a:ext cx="1668145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Unit</a:t>
            </a:r>
            <a:r>
              <a:rPr sz="1350" b="1" spc="-4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Data</a:t>
            </a:r>
            <a:r>
              <a:rPr sz="1350" b="1" spc="-5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yang</a:t>
            </a:r>
            <a:r>
              <a:rPr sz="1350" b="1" spc="-5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0A1E3C"/>
                </a:solidFill>
                <a:latin typeface="Calibri"/>
                <a:cs typeface="Calibri"/>
              </a:rPr>
              <a:t>Diambil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85615" y="3562350"/>
            <a:ext cx="649795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Teks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(review),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bukan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unggahan</a:t>
            </a:r>
            <a:r>
              <a:rPr sz="1200" spc="-7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media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sosial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umum,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karena</a:t>
            </a:r>
            <a:r>
              <a:rPr sz="12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secara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langsung</a:t>
            </a:r>
            <a:r>
              <a:rPr sz="12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mencerminkan pengalaman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memakai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aplikasi,</a:t>
            </a:r>
            <a:r>
              <a:rPr sz="120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bukan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topik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di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luar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aplikasi.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9288" y="4222978"/>
            <a:ext cx="11383645" cy="1005205"/>
            <a:chOff x="399288" y="4222978"/>
            <a:chExt cx="11383645" cy="100520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4222978"/>
              <a:ext cx="11383518" cy="100510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2920" y="4288536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19"/>
                  </a:lnTo>
                  <a:lnTo>
                    <a:pt x="5748" y="759987"/>
                  </a:lnTo>
                  <a:lnTo>
                    <a:pt x="21426" y="783240"/>
                  </a:lnTo>
                  <a:lnTo>
                    <a:pt x="44678" y="798921"/>
                  </a:lnTo>
                  <a:lnTo>
                    <a:pt x="73151" y="804671"/>
                  </a:lnTo>
                  <a:lnTo>
                    <a:pt x="11109960" y="804671"/>
                  </a:lnTo>
                  <a:lnTo>
                    <a:pt x="11138427" y="798921"/>
                  </a:lnTo>
                  <a:lnTo>
                    <a:pt x="11161680" y="783240"/>
                  </a:lnTo>
                  <a:lnTo>
                    <a:pt x="11177361" y="759987"/>
                  </a:lnTo>
                  <a:lnTo>
                    <a:pt x="11183112" y="731519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4088" y="446227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3716" y="458609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9153" y="4555616"/>
            <a:ext cx="1675764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Cara</a:t>
            </a:r>
            <a:r>
              <a:rPr sz="1350" b="1" spc="-2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0A1E3C"/>
                </a:solidFill>
                <a:latin typeface="Calibri"/>
                <a:cs typeface="Calibri"/>
              </a:rPr>
              <a:t>Memperoleh</a:t>
            </a:r>
            <a:r>
              <a:rPr sz="1350" b="1" spc="-2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0A1E3C"/>
                </a:solidFill>
                <a:latin typeface="Calibri"/>
                <a:cs typeface="Calibri"/>
              </a:rPr>
              <a:t>Data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85615" y="4457927"/>
            <a:ext cx="6658609" cy="42862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Web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scraping</a:t>
            </a:r>
            <a:r>
              <a:rPr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otomatis</a:t>
            </a:r>
            <a:r>
              <a:rPr sz="120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menggunakan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pustaka</a:t>
            </a:r>
            <a:r>
              <a:rPr sz="120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Python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google-play-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scraper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mengunduh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terbaru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langsung</a:t>
            </a:r>
            <a:r>
              <a:rPr sz="12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dari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halaman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20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di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Play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Store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tanpa</a:t>
            </a:r>
            <a:r>
              <a:rPr sz="12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API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berbayar.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9288" y="5119115"/>
            <a:ext cx="11383645" cy="1005205"/>
            <a:chOff x="399288" y="5119115"/>
            <a:chExt cx="11383645" cy="100520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5119115"/>
              <a:ext cx="11383518" cy="100510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02920" y="5184647"/>
              <a:ext cx="11183620" cy="805180"/>
            </a:xfrm>
            <a:custGeom>
              <a:avLst/>
              <a:gdLst/>
              <a:ahLst/>
              <a:cxnLst/>
              <a:rect l="l" t="t" r="r" b="b"/>
              <a:pathLst>
                <a:path w="11183620" h="80517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31519"/>
                  </a:lnTo>
                  <a:lnTo>
                    <a:pt x="5748" y="759993"/>
                  </a:lnTo>
                  <a:lnTo>
                    <a:pt x="21426" y="783245"/>
                  </a:lnTo>
                  <a:lnTo>
                    <a:pt x="44678" y="798923"/>
                  </a:lnTo>
                  <a:lnTo>
                    <a:pt x="73151" y="804671"/>
                  </a:lnTo>
                  <a:lnTo>
                    <a:pt x="11109960" y="804671"/>
                  </a:lnTo>
                  <a:lnTo>
                    <a:pt x="11138427" y="798923"/>
                  </a:lnTo>
                  <a:lnTo>
                    <a:pt x="11161680" y="783245"/>
                  </a:lnTo>
                  <a:lnTo>
                    <a:pt x="11177361" y="759993"/>
                  </a:lnTo>
                  <a:lnTo>
                    <a:pt x="11183112" y="731519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4088" y="53583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3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83716" y="5482539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59153" y="5452059"/>
            <a:ext cx="101473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A1E3C"/>
                </a:solidFill>
                <a:latin typeface="Calibri"/>
                <a:cs typeface="Calibri"/>
              </a:rPr>
              <a:t>Cakupan</a:t>
            </a:r>
            <a:r>
              <a:rPr sz="1350" b="1" spc="-5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0A1E3C"/>
                </a:solidFill>
                <a:latin typeface="Calibri"/>
                <a:cs typeface="Calibri"/>
              </a:rPr>
              <a:t>Data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85615" y="5354828"/>
            <a:ext cx="6890384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150 ulasan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dikumpulkan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2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3</a:t>
            </a:r>
            <a:r>
              <a:rPr sz="120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September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2026,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diurutkan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berdasarkan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“paling</a:t>
            </a:r>
            <a:r>
              <a:rPr sz="12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relevan”;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kolom</a:t>
            </a:r>
            <a:r>
              <a:rPr sz="1200" spc="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direkam: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teks</a:t>
            </a:r>
            <a:r>
              <a:rPr sz="12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ulasan,</a:t>
            </a:r>
            <a:r>
              <a:rPr sz="12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rating,</a:t>
            </a:r>
            <a:r>
              <a:rPr sz="12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tanggal,</a:t>
            </a:r>
            <a:r>
              <a:rPr sz="1200" spc="-6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jumlah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like,</a:t>
            </a:r>
            <a:r>
              <a:rPr sz="12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2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A1A2D"/>
                </a:solidFill>
                <a:latin typeface="Calibri"/>
                <a:cs typeface="Calibri"/>
              </a:rPr>
              <a:t>versi</a:t>
            </a:r>
            <a:r>
              <a:rPr sz="12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A1A2D"/>
                </a:solidFill>
                <a:latin typeface="Calibri"/>
                <a:cs typeface="Calibri"/>
              </a:rPr>
              <a:t>aplikasi.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5659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D</a:t>
            </a:r>
            <a:r>
              <a:rPr sz="1200" b="1" spc="-8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A</a:t>
            </a:r>
            <a:r>
              <a:rPr sz="1200" b="1" spc="39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C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O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L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L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C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O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843C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Data</a:t>
            </a:r>
            <a:r>
              <a:rPr sz="2600" spc="-55" dirty="0"/>
              <a:t> </a:t>
            </a:r>
            <a:r>
              <a:rPr sz="2600" dirty="0"/>
              <a:t>Ulasan</a:t>
            </a:r>
            <a:r>
              <a:rPr sz="2600" spc="-55" dirty="0"/>
              <a:t> </a:t>
            </a:r>
            <a:r>
              <a:rPr sz="2600" dirty="0"/>
              <a:t>yang</a:t>
            </a:r>
            <a:r>
              <a:rPr sz="2600" spc="-25" dirty="0"/>
              <a:t> </a:t>
            </a:r>
            <a:r>
              <a:rPr sz="2600" spc="-10" dirty="0"/>
              <a:t>Dikumpulkan</a:t>
            </a:r>
            <a:endParaRPr sz="26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9744" y="1414144"/>
          <a:ext cx="11274424" cy="423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Cuplikan</a:t>
                      </a:r>
                      <a:r>
                        <a:rPr sz="10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Sentimen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Tanggal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Sering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nge-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lag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saat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bayar,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tapi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cukup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membantu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0325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b="1" spc="-1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Netral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Transaksi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jadi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lebih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cepat</a:t>
                      </a:r>
                      <a:r>
                        <a:rPr sz="1000" spc="-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tanpa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antre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kasir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60261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b="1" spc="-10" dirty="0">
                          <a:solidFill>
                            <a:srgbClr val="00843C"/>
                          </a:solidFill>
                          <a:latin typeface="Calibri"/>
                          <a:cs typeface="Calibri"/>
                        </a:rPr>
                        <a:t>Positif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susah,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OTP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tidak</a:t>
                      </a:r>
                      <a:r>
                        <a:rPr sz="100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kunjung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masuk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7594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b="1" spc="-10" dirty="0">
                          <a:solidFill>
                            <a:srgbClr val="E3002B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Poin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loyalti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oke,</a:t>
                      </a:r>
                      <a:r>
                        <a:rPr sz="100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tapi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UI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membingungkan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60325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Netral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Wajib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daftar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buat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beli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Pertalite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terasa</a:t>
                      </a:r>
                      <a:r>
                        <a:rPr sz="1000" spc="-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ribet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759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E3002B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terbaru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bikin</a:t>
                      </a: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tampilan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lebih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rapi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60261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00843C"/>
                          </a:solidFill>
                          <a:latin typeface="Calibri"/>
                          <a:cs typeface="Calibri"/>
                        </a:rPr>
                        <a:t>Positif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r>
                        <a:rPr sz="1000" spc="-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sering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down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saat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jam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pulang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kerja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75945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b="1" spc="-10" dirty="0">
                          <a:solidFill>
                            <a:srgbClr val="E3002B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4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Membantu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memantau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riwayat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transaksi</a:t>
                      </a:r>
                      <a:r>
                        <a:rPr sz="100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BBM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bulanan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60261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00843C"/>
                          </a:solidFill>
                          <a:latin typeface="Calibri"/>
                          <a:cs typeface="Calibri"/>
                        </a:rPr>
                        <a:t>Positif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Lumayan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bagus,</a:t>
                      </a:r>
                      <a:r>
                        <a:rPr sz="100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notifikasi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kadang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terlalu sering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0325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Netral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Verifikasi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00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kendaraan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lama,</a:t>
                      </a:r>
                      <a:r>
                        <a:rPr sz="100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sudah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seminggu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759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E3002B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Simpel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dan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gampang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dipakai,</a:t>
                      </a: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tidak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ribet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0261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00843C"/>
                          </a:solidFill>
                          <a:latin typeface="Calibri"/>
                          <a:cs typeface="Calibri"/>
                        </a:rPr>
                        <a:t>Positif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2026-08-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Saldo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sempat</a:t>
                      </a:r>
                      <a:r>
                        <a:rPr sz="1000" spc="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terpotong</a:t>
                      </a:r>
                      <a:r>
                        <a:rPr sz="100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dua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kali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transaksi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759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E3002B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2026-09-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Bagus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untuk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pantau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promo,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loading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agak</a:t>
                      </a:r>
                      <a:r>
                        <a:rPr sz="100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berat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0325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Netral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2026-09-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Scan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barcode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SPBU</a:t>
                      </a:r>
                      <a:r>
                        <a:rPr sz="100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sekarang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lebih</a:t>
                      </a:r>
                      <a:r>
                        <a:rPr sz="100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cepat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461009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60261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b="1" spc="-10" dirty="0">
                          <a:solidFill>
                            <a:srgbClr val="00843C"/>
                          </a:solidFill>
                          <a:latin typeface="Calibri"/>
                          <a:cs typeface="Calibri"/>
                        </a:rPr>
                        <a:t>Positif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2026-09-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Kurang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jelas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untuk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pengguna</a:t>
                      </a:r>
                      <a:r>
                        <a:rPr sz="100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baru,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petunjuk</a:t>
                      </a:r>
                      <a:r>
                        <a:rPr sz="100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minim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6164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7594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b="1" spc="-10" dirty="0">
                          <a:solidFill>
                            <a:srgbClr val="E3002B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3086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000" spc="-20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2026-09-</a:t>
                      </a:r>
                      <a:r>
                        <a:rPr sz="1000" spc="-25" dirty="0">
                          <a:solidFill>
                            <a:srgbClr val="6B7180"/>
                          </a:solidFill>
                          <a:latin typeface="Calibri"/>
                          <a:cs typeface="Calibri"/>
                        </a:rPr>
                        <a:t>03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90219" y="6117437"/>
            <a:ext cx="104063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Menampilkan</a:t>
            </a:r>
            <a:r>
              <a:rPr sz="1050" i="1" spc="-6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15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dari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150</a:t>
            </a:r>
            <a:r>
              <a:rPr sz="1050" i="1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ulasan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yang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dikumpulkan.</a:t>
            </a:r>
            <a:r>
              <a:rPr sz="1050" i="1" spc="-4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Label</a:t>
            </a:r>
            <a:r>
              <a:rPr sz="105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sentimen</a:t>
            </a:r>
            <a:r>
              <a:rPr sz="105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ditentukan</a:t>
            </a:r>
            <a:r>
              <a:rPr sz="1050" i="1" spc="-3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dari</a:t>
            </a:r>
            <a:r>
              <a:rPr sz="105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kombinasi</a:t>
            </a:r>
            <a:r>
              <a:rPr sz="1050" i="1" spc="-4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rating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bintang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dan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pemeriksaan</a:t>
            </a:r>
            <a:r>
              <a:rPr sz="1050" i="1" spc="-4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singkat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isi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ulasan</a:t>
            </a:r>
            <a:r>
              <a:rPr sz="1050" i="1" spc="-2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(rating</a:t>
            </a:r>
            <a:r>
              <a:rPr sz="105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6B7180"/>
                </a:solidFill>
                <a:latin typeface="Calibri"/>
                <a:cs typeface="Calibri"/>
              </a:rPr>
              <a:t>4–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5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=</a:t>
            </a:r>
            <a:r>
              <a:rPr sz="1050" i="1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Positif,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3</a:t>
            </a:r>
            <a:r>
              <a:rPr sz="1050" i="1" spc="-1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=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Netral,</a:t>
            </a:r>
            <a:r>
              <a:rPr sz="1050" i="1" spc="-30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1–2</a:t>
            </a:r>
            <a:r>
              <a:rPr sz="1050" i="1" spc="-1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dirty="0">
                <a:solidFill>
                  <a:srgbClr val="6B7180"/>
                </a:solidFill>
                <a:latin typeface="Calibri"/>
                <a:cs typeface="Calibri"/>
              </a:rPr>
              <a:t>=</a:t>
            </a:r>
            <a:r>
              <a:rPr sz="1050" i="1" spc="-5" dirty="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sz="1050" i="1" spc="-10" dirty="0">
                <a:solidFill>
                  <a:srgbClr val="6B7180"/>
                </a:solidFill>
                <a:latin typeface="Calibri"/>
                <a:cs typeface="Calibri"/>
              </a:rPr>
              <a:t>Negatif).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8331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V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R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B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54A3"/>
                </a:solidFill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Variabel</a:t>
            </a:r>
            <a:r>
              <a:rPr spc="-85" dirty="0"/>
              <a:t> </a:t>
            </a:r>
            <a:r>
              <a:rPr spc="-10" dirty="0"/>
              <a:t>Penelitian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9744" y="1642745"/>
          <a:ext cx="11219815" cy="3883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6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Variabel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Keterangan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Outcome</a:t>
                      </a:r>
                      <a:r>
                        <a:rPr sz="1300" b="1" spc="-7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(Y)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Sentimen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Label</a:t>
                      </a:r>
                      <a:r>
                        <a:rPr sz="125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kategori</a:t>
                      </a:r>
                      <a:r>
                        <a:rPr sz="125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(Positif</a:t>
                      </a:r>
                      <a:r>
                        <a:rPr sz="125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5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Netral</a:t>
                      </a:r>
                      <a:r>
                        <a:rPr sz="125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5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Negatif)</a:t>
                      </a:r>
                      <a:r>
                        <a:rPr sz="125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berdasarkan rating</a:t>
                      </a:r>
                      <a:r>
                        <a:rPr sz="125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dan</a:t>
                      </a:r>
                      <a:r>
                        <a:rPr sz="125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isi</a:t>
                      </a:r>
                      <a:r>
                        <a:rPr sz="125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Predictor</a:t>
                      </a:r>
                      <a:r>
                        <a:rPr sz="1300" b="1" spc="1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(X1)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0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sz="1300" b="1" spc="-4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Bintang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Skor</a:t>
                      </a:r>
                      <a:r>
                        <a:rPr sz="125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1–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yang</a:t>
                      </a:r>
                      <a:r>
                        <a:rPr sz="125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diberikan</a:t>
                      </a:r>
                      <a:r>
                        <a:rPr sz="125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pengguna</a:t>
                      </a:r>
                      <a:r>
                        <a:rPr sz="125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saat</a:t>
                      </a:r>
                      <a:r>
                        <a:rPr sz="125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menulis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Predictor</a:t>
                      </a:r>
                      <a:r>
                        <a:rPr sz="1300" b="1" spc="1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(X2)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Panjang Ulasan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kata</a:t>
                      </a:r>
                      <a:r>
                        <a:rPr sz="125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dalam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teks</a:t>
                      </a:r>
                      <a:r>
                        <a:rPr sz="1250" spc="-5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Predictor</a:t>
                      </a:r>
                      <a:r>
                        <a:rPr sz="1300" b="1" spc="1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0054A3"/>
                          </a:solidFill>
                          <a:latin typeface="Calibri"/>
                          <a:cs typeface="Calibri"/>
                        </a:rPr>
                        <a:t>(X3)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Waktu</a:t>
                      </a:r>
                      <a:r>
                        <a:rPr sz="1300" b="1" spc="-4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5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Tanggal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r>
                        <a:rPr sz="1250" spc="-2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diunggah,</a:t>
                      </a:r>
                      <a:r>
                        <a:rPr sz="125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dalam</a:t>
                      </a:r>
                      <a:r>
                        <a:rPr sz="1250" spc="-3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rentang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Agustus–September</a:t>
                      </a:r>
                      <a:r>
                        <a:rPr sz="125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2026.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5525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O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D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E</a:t>
            </a:r>
            <a:r>
              <a:rPr sz="1200" b="1" spc="39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L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843C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Metode</a:t>
            </a:r>
            <a:r>
              <a:rPr spc="-70" dirty="0"/>
              <a:t> </a:t>
            </a:r>
            <a:r>
              <a:rPr spc="-10" dirty="0"/>
              <a:t>Analisis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80375"/>
            <a:ext cx="11383645" cy="4498340"/>
            <a:chOff x="399288" y="1580375"/>
            <a:chExt cx="11383645" cy="44983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80375"/>
              <a:ext cx="11383518" cy="44980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45920"/>
              <a:ext cx="11183620" cy="4297680"/>
            </a:xfrm>
            <a:custGeom>
              <a:avLst/>
              <a:gdLst/>
              <a:ahLst/>
              <a:cxnLst/>
              <a:rect l="l" t="t" r="r" b="b"/>
              <a:pathLst>
                <a:path w="11183620" h="4297680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48" y="4253001"/>
                  </a:lnTo>
                  <a:lnTo>
                    <a:pt x="21426" y="4276253"/>
                  </a:lnTo>
                  <a:lnTo>
                    <a:pt x="44678" y="4291931"/>
                  </a:lnTo>
                  <a:lnTo>
                    <a:pt x="73151" y="4297680"/>
                  </a:lnTo>
                  <a:lnTo>
                    <a:pt x="11109960" y="4297680"/>
                  </a:lnTo>
                  <a:lnTo>
                    <a:pt x="11138427" y="4291931"/>
                  </a:lnTo>
                  <a:lnTo>
                    <a:pt x="11161680" y="4276253"/>
                  </a:lnTo>
                  <a:lnTo>
                    <a:pt x="11177361" y="4253001"/>
                  </a:lnTo>
                  <a:lnTo>
                    <a:pt x="11183112" y="4224528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5980" y="2135225"/>
            <a:ext cx="1047813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Sebanyak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150</a:t>
            </a:r>
            <a:r>
              <a:rPr sz="1400" spc="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publik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dikumpulkan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3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September</a:t>
            </a:r>
            <a:r>
              <a:rPr sz="1400" spc="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2026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dari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halaman</a:t>
            </a:r>
            <a:r>
              <a:rPr sz="1400" spc="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MyPertamina</a:t>
            </a:r>
            <a:r>
              <a:rPr sz="1400" spc="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di</a:t>
            </a:r>
            <a:r>
              <a:rPr sz="1400" spc="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Google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Play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Store.</a:t>
            </a:r>
            <a:r>
              <a:rPr sz="1400" spc="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Dataset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mencakup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teks</a:t>
            </a:r>
            <a:r>
              <a:rPr sz="14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ulasan,</a:t>
            </a:r>
            <a:r>
              <a:rPr sz="14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4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bintang,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tanggal,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4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jumlah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like.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557507" y="6552006"/>
            <a:ext cx="14160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 dirty="0">
                <a:solidFill>
                  <a:srgbClr val="6B7180"/>
                </a:solidFill>
                <a:latin typeface="Calibri"/>
                <a:cs typeface="Calibri"/>
              </a:rPr>
              <a:t>09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80" y="3292855"/>
            <a:ext cx="94214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Analisis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deskriptif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digunakan</a:t>
            </a:r>
            <a:r>
              <a:rPr sz="14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menghitung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proporsi</a:t>
            </a:r>
            <a:r>
              <a:rPr sz="140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positif,</a:t>
            </a:r>
            <a:r>
              <a:rPr sz="14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netral,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negatif</a:t>
            </a:r>
            <a:r>
              <a:rPr sz="14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seluruh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4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terkumpul.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980" y="4110583"/>
            <a:ext cx="10477500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Korelasi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Pearson</a:t>
            </a:r>
            <a:r>
              <a:rPr sz="1400" spc="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digunakan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melihat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hubungan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linear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antara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bintang</a:t>
            </a:r>
            <a:r>
              <a:rPr sz="1400" spc="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400" spc="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skor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numerik</a:t>
            </a:r>
            <a:r>
              <a:rPr sz="1400" spc="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(skala</a:t>
            </a:r>
            <a:r>
              <a:rPr sz="1400" spc="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−1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hingga</a:t>
            </a:r>
            <a:r>
              <a:rPr sz="14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+1),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serta</a:t>
            </a:r>
            <a:r>
              <a:rPr sz="1400" spc="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antara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panjang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4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4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diberikan.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80" y="5268595"/>
            <a:ext cx="96018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Analisis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frekuensi</a:t>
            </a:r>
            <a:r>
              <a:rPr sz="14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kata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kunci</a:t>
            </a:r>
            <a:r>
              <a:rPr sz="14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digunakan</a:t>
            </a:r>
            <a:r>
              <a:rPr sz="14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4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mengidentifikasi</a:t>
            </a:r>
            <a:r>
              <a:rPr sz="14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tema</a:t>
            </a:r>
            <a:r>
              <a:rPr sz="14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keluhan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paling</a:t>
            </a:r>
            <a:r>
              <a:rPr sz="14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sering</a:t>
            </a:r>
            <a:r>
              <a:rPr sz="140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muncul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4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2D"/>
                </a:solidFill>
                <a:latin typeface="Calibri"/>
                <a:cs typeface="Calibri"/>
              </a:rPr>
              <a:t>bernada</a:t>
            </a:r>
            <a:r>
              <a:rPr sz="14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2D"/>
                </a:solidFill>
                <a:latin typeface="Calibri"/>
                <a:cs typeface="Calibri"/>
              </a:rPr>
              <a:t>negatif.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494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Ringkasan</a:t>
            </a:r>
            <a:r>
              <a:rPr spc="-150" dirty="0"/>
              <a:t> </a:t>
            </a:r>
            <a:r>
              <a:rPr spc="-10" dirty="0"/>
              <a:t>Hasil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788176"/>
              </p:ext>
            </p:extLst>
          </p:nvPr>
        </p:nvGraphicFramePr>
        <p:xfrm>
          <a:off x="499744" y="1551305"/>
          <a:ext cx="667512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Ukuran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Hasil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0A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r>
                        <a:rPr sz="1250" spc="-3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b="1" spc="-2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150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Rata-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rata</a:t>
                      </a:r>
                      <a:r>
                        <a:rPr sz="1250" spc="-6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3.</a:t>
                      </a: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52</a:t>
                      </a: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6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Proporsi</a:t>
                      </a:r>
                      <a:r>
                        <a:rPr sz="125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r>
                        <a:rPr sz="1250" spc="-5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positif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60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sz="1250" b="1" spc="-1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90</a:t>
                      </a:r>
                      <a:r>
                        <a:rPr sz="1250" b="1" spc="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ulasan)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Proporsi</a:t>
                      </a:r>
                      <a:r>
                        <a:rPr sz="125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r>
                        <a:rPr sz="1250" spc="-5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netral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5,3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sz="1250" b="1" spc="-1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8</a:t>
                      </a:r>
                      <a:r>
                        <a:rPr sz="1250" b="1" spc="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ulasan)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Proporsi</a:t>
                      </a:r>
                      <a:r>
                        <a:rPr sz="125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</a:t>
                      </a:r>
                      <a:r>
                        <a:rPr sz="1250" spc="-5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negatif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34,7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%</a:t>
                      </a:r>
                      <a:r>
                        <a:rPr sz="1250" b="1" spc="-1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lang="en-US"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52</a:t>
                      </a:r>
                      <a:r>
                        <a:rPr sz="1250" b="1" spc="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ulasan)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sz="125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sz="1250" spc="-4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Skor</a:t>
                      </a:r>
                      <a:r>
                        <a:rPr sz="1250" spc="-4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Sentimen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Pearson</a:t>
                      </a:r>
                      <a:r>
                        <a:rPr sz="1250" b="1" spc="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spc="-1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250" b="1" spc="-15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0.68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4460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Panjang</a:t>
                      </a:r>
                      <a:r>
                        <a:rPr sz="1250" spc="-15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Ulasan vs</a:t>
                      </a:r>
                      <a:r>
                        <a:rPr sz="1250" spc="-2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Pearson</a:t>
                      </a:r>
                      <a:r>
                        <a:rPr sz="1250" b="1" spc="-1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50" b="1" spc="-3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250" b="1" spc="-3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-20" dirty="0">
                          <a:solidFill>
                            <a:srgbClr val="0A1E3C"/>
                          </a:solidFill>
                          <a:latin typeface="Calibri"/>
                          <a:cs typeface="Calibri"/>
                        </a:rPr>
                        <a:t>−0.19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E4E8EB"/>
                      </a:solidFill>
                      <a:prstDash val="solid"/>
                    </a:lnL>
                    <a:lnR w="6350">
                      <a:solidFill>
                        <a:srgbClr val="E4E8EB"/>
                      </a:solidFill>
                      <a:prstDash val="solid"/>
                    </a:lnR>
                    <a:lnT w="6350">
                      <a:solidFill>
                        <a:srgbClr val="E4E8EB"/>
                      </a:solidFill>
                      <a:prstDash val="solid"/>
                    </a:lnT>
                    <a:lnB w="6350">
                      <a:solidFill>
                        <a:srgbClr val="E4E8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348728" y="1488947"/>
            <a:ext cx="4452620" cy="4681220"/>
            <a:chOff x="7348728" y="1488947"/>
            <a:chExt cx="4452620" cy="46812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8728" y="1488947"/>
              <a:ext cx="4452366" cy="46809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52360" y="1554479"/>
              <a:ext cx="4251960" cy="4480560"/>
            </a:xfrm>
            <a:custGeom>
              <a:avLst/>
              <a:gdLst/>
              <a:ahLst/>
              <a:cxnLst/>
              <a:rect l="l" t="t" r="r" b="b"/>
              <a:pathLst>
                <a:path w="4251959" h="4480560">
                  <a:moveTo>
                    <a:pt x="41788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4407420"/>
                  </a:lnTo>
                  <a:lnTo>
                    <a:pt x="5750" y="4435891"/>
                  </a:lnTo>
                  <a:lnTo>
                    <a:pt x="21431" y="4459139"/>
                  </a:lnTo>
                  <a:lnTo>
                    <a:pt x="44684" y="4474813"/>
                  </a:lnTo>
                  <a:lnTo>
                    <a:pt x="73151" y="4480560"/>
                  </a:lnTo>
                  <a:lnTo>
                    <a:pt x="4178808" y="4480560"/>
                  </a:lnTo>
                  <a:lnTo>
                    <a:pt x="4207275" y="4474813"/>
                  </a:lnTo>
                  <a:lnTo>
                    <a:pt x="4230528" y="4459139"/>
                  </a:lnTo>
                  <a:lnTo>
                    <a:pt x="4246209" y="4435891"/>
                  </a:lnTo>
                  <a:lnTo>
                    <a:pt x="4251960" y="4407420"/>
                  </a:lnTo>
                  <a:lnTo>
                    <a:pt x="4251960" y="73152"/>
                  </a:lnTo>
                  <a:lnTo>
                    <a:pt x="4246209" y="44684"/>
                  </a:lnTo>
                  <a:lnTo>
                    <a:pt x="4230528" y="21431"/>
                  </a:lnTo>
                  <a:lnTo>
                    <a:pt x="4207275" y="5750"/>
                  </a:lnTo>
                  <a:lnTo>
                    <a:pt x="4178808" y="0"/>
                  </a:lnTo>
                  <a:close/>
                </a:path>
              </a:pathLst>
            </a:custGeom>
            <a:solidFill>
              <a:srgbClr val="12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60589" y="1826513"/>
            <a:ext cx="3480435" cy="1570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9FC2ED"/>
                </a:solidFill>
                <a:latin typeface="Calibri"/>
                <a:cs typeface="Calibri"/>
              </a:rPr>
              <a:t>Interpretasi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Rating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bintang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menunjukkan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hubungan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positif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yang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cukup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kuat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dengan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skor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sentimen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ulasan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(r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0.68),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sehingga</a:t>
            </a:r>
            <a:r>
              <a:rPr sz="13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rating</a:t>
            </a:r>
            <a:r>
              <a:rPr sz="1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cukup</a:t>
            </a:r>
            <a:r>
              <a:rPr sz="1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mewakili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sentimen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yang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dirasakan</a:t>
            </a:r>
            <a:r>
              <a:rPr sz="13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pengguna.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760589" y="4111904"/>
            <a:ext cx="357949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854">
              <a:lnSpc>
                <a:spcPct val="12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Panjang</a:t>
            </a:r>
            <a:r>
              <a:rPr sz="1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ulasan</a:t>
            </a:r>
            <a:r>
              <a:rPr sz="1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hanya</a:t>
            </a:r>
            <a:r>
              <a:rPr sz="13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berhubungan</a:t>
            </a:r>
            <a:r>
              <a:rPr sz="1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sangat</a:t>
            </a:r>
            <a:r>
              <a:rPr sz="1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lemah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dengan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rating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(r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−0.19),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sehingga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panjang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teks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ulasan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bukan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indikator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penting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dari</a:t>
            </a:r>
            <a:r>
              <a:rPr sz="1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tinggi-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rendahnya rating.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494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Distribusi</a:t>
            </a:r>
            <a:r>
              <a:rPr spc="-80" dirty="0"/>
              <a:t> </a:t>
            </a:r>
            <a:r>
              <a:rPr dirty="0"/>
              <a:t>Sentimen</a:t>
            </a:r>
            <a:r>
              <a:rPr spc="-75" dirty="0"/>
              <a:t> </a:t>
            </a:r>
            <a:r>
              <a:rPr spc="-10" dirty="0"/>
              <a:t>Ulasan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99178" y="2971545"/>
            <a:ext cx="35496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%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60623" y="5076520"/>
            <a:ext cx="3549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18%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0322" y="2885948"/>
            <a:ext cx="3549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40%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42888" y="1488935"/>
            <a:ext cx="5458460" cy="4498340"/>
            <a:chOff x="6342888" y="1488935"/>
            <a:chExt cx="5458460" cy="449834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42888" y="1488935"/>
              <a:ext cx="5458206" cy="449808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46520" y="1554479"/>
              <a:ext cx="5257800" cy="4297680"/>
            </a:xfrm>
            <a:custGeom>
              <a:avLst/>
              <a:gdLst/>
              <a:ahLst/>
              <a:cxnLst/>
              <a:rect l="l" t="t" r="r" b="b"/>
              <a:pathLst>
                <a:path w="5257800" h="4297680">
                  <a:moveTo>
                    <a:pt x="51846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4224528"/>
                  </a:lnTo>
                  <a:lnTo>
                    <a:pt x="5750" y="4253001"/>
                  </a:lnTo>
                  <a:lnTo>
                    <a:pt x="21431" y="4276253"/>
                  </a:lnTo>
                  <a:lnTo>
                    <a:pt x="44684" y="4291931"/>
                  </a:lnTo>
                  <a:lnTo>
                    <a:pt x="73151" y="4297680"/>
                  </a:lnTo>
                  <a:lnTo>
                    <a:pt x="5184648" y="4297680"/>
                  </a:lnTo>
                  <a:lnTo>
                    <a:pt x="5213115" y="4291931"/>
                  </a:lnTo>
                  <a:lnTo>
                    <a:pt x="5236368" y="4276253"/>
                  </a:lnTo>
                  <a:lnTo>
                    <a:pt x="5252049" y="4253001"/>
                  </a:lnTo>
                  <a:lnTo>
                    <a:pt x="5257800" y="4224528"/>
                  </a:lnTo>
                  <a:lnTo>
                    <a:pt x="5257800" y="73152"/>
                  </a:lnTo>
                  <a:lnTo>
                    <a:pt x="5252049" y="44684"/>
                  </a:lnTo>
                  <a:lnTo>
                    <a:pt x="5236368" y="21431"/>
                  </a:lnTo>
                  <a:lnTo>
                    <a:pt x="5213115" y="5750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29400" y="1914483"/>
            <a:ext cx="468884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1400" dirty="0">
                <a:latin typeface="+mj-lt"/>
              </a:rPr>
              <a:t>Dari 150 </a:t>
            </a:r>
            <a:r>
              <a:rPr lang="en-US" sz="1400" dirty="0" err="1">
                <a:latin typeface="+mj-lt"/>
              </a:rPr>
              <a:t>ulasan</a:t>
            </a:r>
            <a:r>
              <a:rPr lang="en-US" sz="1400" dirty="0">
                <a:latin typeface="+mj-lt"/>
              </a:rPr>
              <a:t> yang </a:t>
            </a:r>
            <a:r>
              <a:rPr lang="en-US" sz="1400" dirty="0" err="1">
                <a:latin typeface="+mj-lt"/>
              </a:rPr>
              <a:t>dianalisis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berdasarkan</a:t>
            </a:r>
            <a:r>
              <a:rPr lang="en-US" sz="1400" dirty="0">
                <a:latin typeface="+mj-lt"/>
              </a:rPr>
              <a:t> rating </a:t>
            </a:r>
            <a:r>
              <a:rPr lang="en-US" sz="1400" dirty="0" err="1">
                <a:latin typeface="+mj-lt"/>
              </a:rPr>
              <a:t>bintang</a:t>
            </a:r>
            <a:r>
              <a:rPr lang="en-US" sz="1400" dirty="0">
                <a:latin typeface="+mj-lt"/>
              </a:rPr>
              <a:t>, </a:t>
            </a:r>
            <a:r>
              <a:rPr lang="en-US" sz="1400" dirty="0" err="1">
                <a:latin typeface="+mj-lt"/>
              </a:rPr>
              <a:t>sentimen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positif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mendominasi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mayoritas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ulasan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sebesar</a:t>
            </a:r>
            <a:r>
              <a:rPr lang="en-US" sz="1400" dirty="0">
                <a:latin typeface="+mj-lt"/>
              </a:rPr>
              <a:t> 60,0% (90 </a:t>
            </a:r>
            <a:r>
              <a:rPr lang="en-US" sz="1400" dirty="0" err="1">
                <a:latin typeface="+mj-lt"/>
              </a:rPr>
              <a:t>ulasan</a:t>
            </a:r>
            <a:r>
              <a:rPr lang="en-US" sz="1400" dirty="0">
                <a:latin typeface="+mj-lt"/>
              </a:rPr>
              <a:t>), </a:t>
            </a:r>
            <a:r>
              <a:rPr lang="en-US" sz="1400" dirty="0" err="1">
                <a:latin typeface="+mj-lt"/>
              </a:rPr>
              <a:t>sementara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sentimen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negatif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mencakup</a:t>
            </a:r>
            <a:r>
              <a:rPr lang="en-US" sz="1400" dirty="0">
                <a:latin typeface="+mj-lt"/>
              </a:rPr>
              <a:t> 34,7% (52 </a:t>
            </a:r>
            <a:r>
              <a:rPr lang="en-US" sz="1400" dirty="0" err="1">
                <a:latin typeface="+mj-lt"/>
              </a:rPr>
              <a:t>ulasan</a:t>
            </a:r>
            <a:r>
              <a:rPr lang="en-US" sz="1400" dirty="0">
                <a:latin typeface="+mj-lt"/>
              </a:rPr>
              <a:t>) dan </a:t>
            </a:r>
            <a:r>
              <a:rPr lang="en-US" sz="1400" dirty="0" err="1">
                <a:latin typeface="+mj-lt"/>
              </a:rPr>
              <a:t>sentimen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netral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sebesar</a:t>
            </a:r>
            <a:r>
              <a:rPr lang="en-US" sz="1400" dirty="0">
                <a:latin typeface="+mj-lt"/>
              </a:rPr>
              <a:t> 5,3% (8 </a:t>
            </a:r>
            <a:r>
              <a:rPr lang="en-US" sz="1400" dirty="0" err="1">
                <a:latin typeface="+mj-lt"/>
              </a:rPr>
              <a:t>ulasan</a:t>
            </a:r>
            <a:r>
              <a:rPr lang="en-US" sz="1400" dirty="0">
                <a:latin typeface="+mj-lt"/>
              </a:rPr>
              <a:t>).</a:t>
            </a:r>
          </a:p>
          <a:p>
            <a:pPr algn="just"/>
            <a:endParaRPr lang="en-US" sz="1400" dirty="0">
              <a:latin typeface="+mj-lt"/>
            </a:endParaRPr>
          </a:p>
          <a:p>
            <a:pPr algn="just"/>
            <a:endParaRPr lang="en-US" sz="1400" dirty="0">
              <a:latin typeface="+mj-lt"/>
            </a:endParaRPr>
          </a:p>
          <a:p>
            <a:pPr algn="just"/>
            <a:r>
              <a:rPr lang="en-US" sz="1400" dirty="0" err="1">
                <a:latin typeface="+mj-lt"/>
              </a:rPr>
              <a:t>Meskipun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mayoritas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pengguna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memberikan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respons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positif</a:t>
            </a:r>
            <a:r>
              <a:rPr lang="en-US" sz="1400" dirty="0">
                <a:latin typeface="+mj-lt"/>
              </a:rPr>
              <a:t>, </a:t>
            </a:r>
            <a:r>
              <a:rPr lang="en-US" sz="1400" dirty="0" err="1">
                <a:latin typeface="+mj-lt"/>
              </a:rPr>
              <a:t>proporsi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sentimen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negatif</a:t>
            </a:r>
            <a:r>
              <a:rPr lang="en-US" sz="1400" dirty="0">
                <a:latin typeface="+mj-lt"/>
              </a:rPr>
              <a:t> yang </a:t>
            </a:r>
            <a:r>
              <a:rPr lang="en-US" sz="1400" dirty="0" err="1">
                <a:latin typeface="+mj-lt"/>
              </a:rPr>
              <a:t>mencapai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lebih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dari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sepertiga</a:t>
            </a:r>
            <a:r>
              <a:rPr lang="en-US" sz="1400" dirty="0">
                <a:latin typeface="+mj-lt"/>
              </a:rPr>
              <a:t> total </a:t>
            </a:r>
            <a:r>
              <a:rPr lang="en-US" sz="1400" dirty="0" err="1">
                <a:latin typeface="+mj-lt"/>
              </a:rPr>
              <a:t>ulasan</a:t>
            </a:r>
            <a:r>
              <a:rPr lang="en-US" sz="1400" dirty="0">
                <a:latin typeface="+mj-lt"/>
              </a:rPr>
              <a:t> (34,7%) </a:t>
            </a:r>
            <a:r>
              <a:rPr lang="en-US" sz="1400" dirty="0" err="1">
                <a:latin typeface="+mj-lt"/>
              </a:rPr>
              <a:t>menunjukkan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angka</a:t>
            </a:r>
            <a:r>
              <a:rPr lang="en-US" sz="1400" dirty="0">
                <a:latin typeface="+mj-lt"/>
              </a:rPr>
              <a:t> yang </a:t>
            </a:r>
            <a:r>
              <a:rPr lang="en-US" sz="1400" dirty="0" err="1">
                <a:latin typeface="+mj-lt"/>
              </a:rPr>
              <a:t>cukup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tinggi</a:t>
            </a:r>
            <a:r>
              <a:rPr lang="en-US" sz="1400" dirty="0">
                <a:latin typeface="+mj-lt"/>
              </a:rPr>
              <a:t> dan </a:t>
            </a:r>
            <a:r>
              <a:rPr lang="en-US" sz="1400" dirty="0" err="1">
                <a:latin typeface="+mj-lt"/>
              </a:rPr>
              <a:t>signifikan</a:t>
            </a:r>
            <a:r>
              <a:rPr lang="en-US" sz="1400" dirty="0">
                <a:latin typeface="+mj-lt"/>
              </a:rPr>
              <a:t>. Hal </a:t>
            </a:r>
            <a:r>
              <a:rPr lang="en-US" sz="1400" dirty="0" err="1">
                <a:latin typeface="+mj-lt"/>
              </a:rPr>
              <a:t>ini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mengindikasikan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bahwa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masih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terdapat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sebagian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pengguna</a:t>
            </a:r>
            <a:r>
              <a:rPr lang="en-US" sz="1400" dirty="0">
                <a:latin typeface="+mj-lt"/>
              </a:rPr>
              <a:t> yang </a:t>
            </a:r>
            <a:r>
              <a:rPr lang="en-US" sz="1400" dirty="0" err="1">
                <a:latin typeface="+mj-lt"/>
              </a:rPr>
              <a:t>mengalami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kendala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teknis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maupun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operasional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secara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nyata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saat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menggunakan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aplikasi</a:t>
            </a:r>
            <a:r>
              <a:rPr lang="en-US" sz="1400" dirty="0">
                <a:latin typeface="+mj-lt"/>
              </a:rPr>
              <a:t>.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C24391F8-7D41-2EBC-5A5E-03D1D5FBF8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4450324"/>
              </p:ext>
            </p:extLst>
          </p:nvPr>
        </p:nvGraphicFramePr>
        <p:xfrm>
          <a:off x="493171" y="1488935"/>
          <a:ext cx="5925280" cy="4215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494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H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Tema</a:t>
            </a:r>
            <a:r>
              <a:rPr spc="-70" dirty="0"/>
              <a:t> </a:t>
            </a:r>
            <a:r>
              <a:rPr dirty="0"/>
              <a:t>Keluhan</a:t>
            </a:r>
            <a:r>
              <a:rPr spc="-45" dirty="0"/>
              <a:t> </a:t>
            </a:r>
            <a:r>
              <a:rPr dirty="0"/>
              <a:t>Utama</a:t>
            </a:r>
            <a:r>
              <a:rPr spc="-50" dirty="0"/>
              <a:t> </a:t>
            </a:r>
            <a:r>
              <a:rPr dirty="0"/>
              <a:t>pada</a:t>
            </a:r>
            <a:r>
              <a:rPr spc="-60" dirty="0"/>
              <a:t> </a:t>
            </a:r>
            <a:r>
              <a:rPr dirty="0"/>
              <a:t>Ulasan</a:t>
            </a:r>
            <a:r>
              <a:rPr spc="-70" dirty="0"/>
              <a:t> </a:t>
            </a:r>
            <a:r>
              <a:rPr spc="-10" dirty="0"/>
              <a:t>Negatif</a:t>
            </a:r>
          </a:p>
        </p:txBody>
      </p:sp>
      <p:grpSp>
        <p:nvGrpSpPr>
          <p:cNvPr id="23" name="object 23"/>
          <p:cNvGrpSpPr/>
          <p:nvPr/>
        </p:nvGrpSpPr>
        <p:grpSpPr>
          <a:xfrm>
            <a:off x="7786623" y="1558721"/>
            <a:ext cx="4041140" cy="4498340"/>
            <a:chOff x="7760207" y="1488935"/>
            <a:chExt cx="4041140" cy="449834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0207" y="1488935"/>
              <a:ext cx="4040886" cy="44980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863839" y="1554479"/>
              <a:ext cx="3840479" cy="4297680"/>
            </a:xfrm>
            <a:custGeom>
              <a:avLst/>
              <a:gdLst/>
              <a:ahLst/>
              <a:cxnLst/>
              <a:rect l="l" t="t" r="r" b="b"/>
              <a:pathLst>
                <a:path w="3840479" h="4297680">
                  <a:moveTo>
                    <a:pt x="37673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4224515"/>
                  </a:lnTo>
                  <a:lnTo>
                    <a:pt x="5750" y="4252995"/>
                  </a:lnTo>
                  <a:lnTo>
                    <a:pt x="21431" y="4276251"/>
                  </a:lnTo>
                  <a:lnTo>
                    <a:pt x="44684" y="4291930"/>
                  </a:lnTo>
                  <a:lnTo>
                    <a:pt x="73151" y="4297680"/>
                  </a:lnTo>
                  <a:lnTo>
                    <a:pt x="3767328" y="4297680"/>
                  </a:lnTo>
                  <a:lnTo>
                    <a:pt x="3795795" y="4291930"/>
                  </a:lnTo>
                  <a:lnTo>
                    <a:pt x="3819048" y="4276251"/>
                  </a:lnTo>
                  <a:lnTo>
                    <a:pt x="3834729" y="4252995"/>
                  </a:lnTo>
                  <a:lnTo>
                    <a:pt x="3840479" y="4224515"/>
                  </a:lnTo>
                  <a:lnTo>
                    <a:pt x="3840479" y="73152"/>
                  </a:lnTo>
                  <a:lnTo>
                    <a:pt x="3834729" y="44684"/>
                  </a:lnTo>
                  <a:lnTo>
                    <a:pt x="3819048" y="21431"/>
                  </a:lnTo>
                  <a:lnTo>
                    <a:pt x="3795795" y="5750"/>
                  </a:lnTo>
                  <a:lnTo>
                    <a:pt x="3767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001000" y="2066814"/>
            <a:ext cx="3362960" cy="262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+mn-lt"/>
              </a:rPr>
              <a:t>Isu </a:t>
            </a:r>
            <a:r>
              <a:rPr lang="en-US" sz="1400" dirty="0" err="1">
                <a:latin typeface="+mn-lt"/>
              </a:rPr>
              <a:t>registrasi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verifikasi</a:t>
            </a:r>
            <a:r>
              <a:rPr lang="en-US" sz="1400" dirty="0">
                <a:latin typeface="+mn-lt"/>
              </a:rPr>
              <a:t>, dan </a:t>
            </a:r>
            <a:r>
              <a:rPr lang="en-US" sz="1400" dirty="0" err="1">
                <a:latin typeface="+mn-lt"/>
              </a:rPr>
              <a:t>masalah</a:t>
            </a:r>
            <a:r>
              <a:rPr lang="en-US" sz="1400" dirty="0">
                <a:latin typeface="+mn-lt"/>
              </a:rPr>
              <a:t> barcode </a:t>
            </a:r>
            <a:r>
              <a:rPr lang="en-US" sz="1400" dirty="0" err="1">
                <a:latin typeface="+mn-lt"/>
              </a:rPr>
              <a:t>justru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menjadi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penyebab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ketidakpuasan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terbesar</a:t>
            </a:r>
            <a:r>
              <a:rPr lang="en-US" sz="1400" dirty="0">
                <a:latin typeface="+mn-lt"/>
              </a:rPr>
              <a:t> (28,8% </a:t>
            </a:r>
            <a:r>
              <a:rPr lang="en-US" sz="1400" dirty="0" err="1">
                <a:latin typeface="+mn-lt"/>
              </a:rPr>
              <a:t>dari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ulasan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negatif</a:t>
            </a:r>
            <a:r>
              <a:rPr lang="en-US" sz="1400" dirty="0">
                <a:latin typeface="+mn-lt"/>
              </a:rPr>
              <a:t>), </a:t>
            </a:r>
            <a:r>
              <a:rPr lang="en-US" sz="1400" dirty="0" err="1">
                <a:latin typeface="+mn-lt"/>
              </a:rPr>
              <a:t>seperti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verifikasi</a:t>
            </a:r>
            <a:r>
              <a:rPr lang="en-US" sz="1400" dirty="0">
                <a:latin typeface="+mn-lt"/>
              </a:rPr>
              <a:t> yang </a:t>
            </a:r>
            <a:r>
              <a:rPr lang="en-US" sz="1400" dirty="0" err="1">
                <a:latin typeface="+mn-lt"/>
              </a:rPr>
              <a:t>memakan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waktu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hingga</a:t>
            </a:r>
            <a:r>
              <a:rPr lang="en-US" sz="1400" dirty="0">
                <a:latin typeface="+mn-lt"/>
              </a:rPr>
              <a:t> 14 </a:t>
            </a:r>
            <a:r>
              <a:rPr lang="en-US" sz="1400" dirty="0" err="1">
                <a:latin typeface="+mn-lt"/>
              </a:rPr>
              <a:t>hari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atau</a:t>
            </a:r>
            <a:r>
              <a:rPr lang="en-US" sz="1400" dirty="0">
                <a:latin typeface="+mn-lt"/>
              </a:rPr>
              <a:t> barcode </a:t>
            </a:r>
            <a:r>
              <a:rPr lang="en-US" sz="1400" dirty="0" err="1">
                <a:latin typeface="+mn-lt"/>
              </a:rPr>
              <a:t>kendaraan</a:t>
            </a:r>
            <a:r>
              <a:rPr lang="en-US" sz="1400" dirty="0">
                <a:latin typeface="+mn-lt"/>
              </a:rPr>
              <a:t> yang </a:t>
            </a:r>
            <a:r>
              <a:rPr lang="en-US" sz="1400" dirty="0" err="1">
                <a:latin typeface="+mn-lt"/>
              </a:rPr>
              <a:t>terblokir</a:t>
            </a:r>
            <a:r>
              <a:rPr lang="en-US" sz="1400" dirty="0">
                <a:latin typeface="+mn-lt"/>
              </a:rPr>
              <a:t>.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endParaRPr lang="en-US" sz="1400" dirty="0">
              <a:latin typeface="+mn-lt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1400" dirty="0" err="1">
                <a:latin typeface="+mn-lt"/>
              </a:rPr>
              <a:t>Sebesar</a:t>
            </a:r>
            <a:r>
              <a:rPr lang="en-US" sz="1400" dirty="0">
                <a:latin typeface="+mn-lt"/>
              </a:rPr>
              <a:t> 21,2% </a:t>
            </a:r>
            <a:r>
              <a:rPr lang="en-US" sz="1400" dirty="0" err="1">
                <a:latin typeface="+mn-lt"/>
              </a:rPr>
              <a:t>ulasan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negatif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menyoroti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diskrepansi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layanan</a:t>
            </a:r>
            <a:r>
              <a:rPr lang="en-US" sz="1400" dirty="0">
                <a:latin typeface="+mn-lt"/>
              </a:rPr>
              <a:t> di SPBU, </a:t>
            </a:r>
            <a:r>
              <a:rPr lang="en-US" sz="1400" dirty="0" err="1">
                <a:latin typeface="+mn-lt"/>
              </a:rPr>
              <a:t>seperti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petugas</a:t>
            </a:r>
            <a:r>
              <a:rPr lang="en-US" sz="1400" dirty="0">
                <a:latin typeface="+mn-lt"/>
              </a:rPr>
              <a:t> SPBU yang </a:t>
            </a:r>
            <a:r>
              <a:rPr lang="en-US" sz="1400" dirty="0" err="1">
                <a:latin typeface="+mn-lt"/>
              </a:rPr>
              <a:t>menolak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pembayaran</a:t>
            </a:r>
            <a:r>
              <a:rPr lang="en-US" sz="1400" dirty="0">
                <a:latin typeface="+mn-lt"/>
              </a:rPr>
              <a:t> QR, </a:t>
            </a:r>
            <a:r>
              <a:rPr lang="en-US" sz="1400" dirty="0" err="1">
                <a:latin typeface="+mn-lt"/>
              </a:rPr>
              <a:t>ketidaksesuaian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informasi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stok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produk</a:t>
            </a:r>
            <a:r>
              <a:rPr lang="en-US" sz="1400" dirty="0">
                <a:latin typeface="+mn-lt"/>
              </a:rPr>
              <a:t> (</a:t>
            </a:r>
            <a:r>
              <a:rPr lang="en-US" sz="1400" dirty="0" err="1">
                <a:latin typeface="+mn-lt"/>
              </a:rPr>
              <a:t>misal</a:t>
            </a:r>
            <a:r>
              <a:rPr lang="en-US" sz="1400" dirty="0">
                <a:latin typeface="+mn-lt"/>
              </a:rPr>
              <a:t>: </a:t>
            </a:r>
            <a:r>
              <a:rPr lang="en-US" sz="1400" dirty="0" err="1">
                <a:latin typeface="+mn-lt"/>
              </a:rPr>
              <a:t>Pertamax</a:t>
            </a:r>
            <a:r>
              <a:rPr lang="en-US" sz="1400" dirty="0">
                <a:latin typeface="+mn-lt"/>
              </a:rPr>
              <a:t> Green 95), </a:t>
            </a:r>
            <a:r>
              <a:rPr lang="en-US" sz="1400" dirty="0" err="1">
                <a:latin typeface="+mn-lt"/>
              </a:rPr>
              <a:t>serta</a:t>
            </a:r>
            <a:r>
              <a:rPr lang="en-US" sz="1400" dirty="0">
                <a:latin typeface="+mn-lt"/>
              </a:rPr>
              <a:t> jam </a:t>
            </a:r>
            <a:r>
              <a:rPr lang="en-US" sz="1400" dirty="0" err="1">
                <a:latin typeface="+mn-lt"/>
              </a:rPr>
              <a:t>operasional</a:t>
            </a:r>
            <a:r>
              <a:rPr lang="en-US" sz="1400" dirty="0">
                <a:latin typeface="+mn-lt"/>
              </a:rPr>
              <a:t> SPBU yang </a:t>
            </a:r>
            <a:r>
              <a:rPr lang="en-US" sz="1400" dirty="0" err="1">
                <a:latin typeface="+mn-lt"/>
              </a:rPr>
              <a:t>tidak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akurat</a:t>
            </a:r>
            <a:endParaRPr sz="1400" dirty="0">
              <a:latin typeface="+mn-lt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27251A3D-3006-7514-DBC1-A43D110293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1037036"/>
              </p:ext>
            </p:extLst>
          </p:nvPr>
        </p:nvGraphicFramePr>
        <p:xfrm>
          <a:off x="196850" y="1413509"/>
          <a:ext cx="7635239" cy="4911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1766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P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M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B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H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54A3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Pembahasan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34667"/>
            <a:ext cx="11383645" cy="4681220"/>
            <a:chOff x="399288" y="1534667"/>
            <a:chExt cx="11383645" cy="46812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34667"/>
              <a:ext cx="11383518" cy="46809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11183620" cy="4480560"/>
            </a:xfrm>
            <a:custGeom>
              <a:avLst/>
              <a:gdLst/>
              <a:ahLst/>
              <a:cxnLst/>
              <a:rect l="l" t="t" r="r" b="b"/>
              <a:pathLst>
                <a:path w="11183620" h="4480560">
                  <a:moveTo>
                    <a:pt x="11109960" y="0"/>
                  </a:moveTo>
                  <a:lnTo>
                    <a:pt x="73177" y="0"/>
                  </a:lnTo>
                  <a:lnTo>
                    <a:pt x="44694" y="5750"/>
                  </a:lnTo>
                  <a:lnTo>
                    <a:pt x="21434" y="21431"/>
                  </a:lnTo>
                  <a:lnTo>
                    <a:pt x="5751" y="44684"/>
                  </a:lnTo>
                  <a:lnTo>
                    <a:pt x="0" y="73151"/>
                  </a:lnTo>
                  <a:lnTo>
                    <a:pt x="0" y="4407382"/>
                  </a:lnTo>
                  <a:lnTo>
                    <a:pt x="5751" y="4435865"/>
                  </a:lnTo>
                  <a:lnTo>
                    <a:pt x="21434" y="4459125"/>
                  </a:lnTo>
                  <a:lnTo>
                    <a:pt x="44694" y="4474808"/>
                  </a:lnTo>
                  <a:lnTo>
                    <a:pt x="73177" y="4480560"/>
                  </a:lnTo>
                  <a:lnTo>
                    <a:pt x="11109960" y="4480560"/>
                  </a:lnTo>
                  <a:lnTo>
                    <a:pt x="11138427" y="4474808"/>
                  </a:lnTo>
                  <a:lnTo>
                    <a:pt x="11161680" y="4459125"/>
                  </a:lnTo>
                  <a:lnTo>
                    <a:pt x="11177361" y="4435865"/>
                  </a:lnTo>
                  <a:lnTo>
                    <a:pt x="11183112" y="4407382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5980" y="2089556"/>
            <a:ext cx="1041908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100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Hasil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menunjukkan</a:t>
            </a:r>
            <a:r>
              <a:rPr sz="130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bahwa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bintang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cukup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mewakili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0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dirasakan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(r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=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0.68),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sehingga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berbintang</a:t>
            </a:r>
            <a:r>
              <a:rPr sz="1300" spc="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rendah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umumnya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memang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berisi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keluhan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jelas,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bukan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sekadar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3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rendah</a:t>
            </a:r>
            <a:r>
              <a:rPr sz="130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tanpa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alasan.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55980" y="3122261"/>
            <a:ext cx="10269220" cy="49593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negatif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hampir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menyamai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positif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(40%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berbanding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42%)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mengindikasikan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bahwa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penerimaan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terhadap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MyPertamina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masih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terbelah,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performa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proses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registrasi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sebagai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sumber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ketidakpuasan</a:t>
            </a:r>
            <a:r>
              <a:rPr sz="130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utama.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980" y="4156354"/>
            <a:ext cx="1030097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100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Panjang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hanya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berhubungan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sangat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lemah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(r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=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−0.19)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menunjukkan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bahwa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pengalaman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baik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maupun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buruk sama-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sama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bisa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menulis</a:t>
            </a:r>
            <a:r>
              <a:rPr sz="130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singkat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maupun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panjang.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980" y="5189829"/>
            <a:ext cx="981583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100"/>
              </a:spcBef>
            </a:pP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Faktor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lain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tidak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diukur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dalam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studi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ini,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seperti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versi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aplikasi,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jenis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perangkat,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kecepatan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koneksi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internet,</a:t>
            </a:r>
            <a:r>
              <a:rPr sz="130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waktu</a:t>
            </a:r>
            <a:r>
              <a:rPr sz="1300" spc="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peluncuran</a:t>
            </a:r>
            <a:r>
              <a:rPr sz="130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pembaruan, kemungkinan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turut</a:t>
            </a:r>
            <a:r>
              <a:rPr sz="130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memengaruhi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pengalaman</a:t>
            </a:r>
            <a:r>
              <a:rPr sz="130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30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30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A1A2D"/>
                </a:solidFill>
                <a:latin typeface="Calibri"/>
                <a:cs typeface="Calibri"/>
              </a:rPr>
              <a:t>pengguna.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3138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K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B</a:t>
            </a:r>
            <a:r>
              <a:rPr sz="1200" b="1" spc="-65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3002B"/>
                </a:solidFill>
                <a:latin typeface="Calibri"/>
                <a:cs typeface="Calibri"/>
              </a:rPr>
              <a:t>T</a:t>
            </a:r>
            <a:r>
              <a:rPr sz="1200" b="1" spc="-6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S</a:t>
            </a:r>
            <a:r>
              <a:rPr sz="1200" b="1" spc="-7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3002B"/>
                </a:solidFill>
                <a:latin typeface="Calibri"/>
                <a:cs typeface="Calibri"/>
              </a:rPr>
              <a:t>A</a:t>
            </a:r>
            <a:r>
              <a:rPr sz="1200" b="1" spc="-80" dirty="0">
                <a:solidFill>
                  <a:srgbClr val="E3002B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E3002B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Keterbatasan</a:t>
            </a:r>
            <a:r>
              <a:rPr spc="-85" dirty="0"/>
              <a:t> </a:t>
            </a:r>
            <a:r>
              <a:rPr spc="-10" dirty="0"/>
              <a:t>Penelitian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34642"/>
            <a:ext cx="11383645" cy="977900"/>
            <a:chOff x="399288" y="1534642"/>
            <a:chExt cx="11383645" cy="977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34642"/>
              <a:ext cx="11383518" cy="9776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00199"/>
              <a:ext cx="11183620" cy="777240"/>
            </a:xfrm>
            <a:custGeom>
              <a:avLst/>
              <a:gdLst/>
              <a:ahLst/>
              <a:cxnLst/>
              <a:rect l="l" t="t" r="r" b="b"/>
              <a:pathLst>
                <a:path w="11183620" h="77723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04088"/>
                  </a:lnTo>
                  <a:lnTo>
                    <a:pt x="5748" y="732555"/>
                  </a:lnTo>
                  <a:lnTo>
                    <a:pt x="21426" y="755808"/>
                  </a:lnTo>
                  <a:lnTo>
                    <a:pt x="44678" y="771489"/>
                  </a:lnTo>
                  <a:lnTo>
                    <a:pt x="73151" y="777239"/>
                  </a:lnTo>
                  <a:lnTo>
                    <a:pt x="11109960" y="777239"/>
                  </a:lnTo>
                  <a:lnTo>
                    <a:pt x="11138427" y="771489"/>
                  </a:lnTo>
                  <a:lnTo>
                    <a:pt x="11161680" y="755808"/>
                  </a:lnTo>
                  <a:lnTo>
                    <a:pt x="11177361" y="732555"/>
                  </a:lnTo>
                  <a:lnTo>
                    <a:pt x="11183112" y="704088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088" y="17967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E3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7750" y="1883410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713" y="1866341"/>
            <a:ext cx="101536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Ukuran</a:t>
            </a:r>
            <a:r>
              <a:rPr sz="1250" b="1" spc="-7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A1E3C"/>
                </a:solidFill>
                <a:latin typeface="Calibri"/>
                <a:cs typeface="Calibri"/>
              </a:rPr>
              <a:t>sampel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1295" y="1886204"/>
            <a:ext cx="63474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150</a:t>
            </a:r>
            <a:r>
              <a:rPr sz="11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1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dikumpulkan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mungkin</a:t>
            </a:r>
            <a:r>
              <a:rPr sz="11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belum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merepresentasikan</a:t>
            </a:r>
            <a:r>
              <a:rPr sz="11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seluruh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MyPertamina.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9288" y="2385034"/>
            <a:ext cx="11383645" cy="977900"/>
            <a:chOff x="399288" y="2385034"/>
            <a:chExt cx="11383645" cy="9779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2385034"/>
              <a:ext cx="11383518" cy="9776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2920" y="2450592"/>
              <a:ext cx="11183620" cy="777240"/>
            </a:xfrm>
            <a:custGeom>
              <a:avLst/>
              <a:gdLst/>
              <a:ahLst/>
              <a:cxnLst/>
              <a:rect l="l" t="t" r="r" b="b"/>
              <a:pathLst>
                <a:path w="11183620" h="77723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704088"/>
                  </a:lnTo>
                  <a:lnTo>
                    <a:pt x="5748" y="732555"/>
                  </a:lnTo>
                  <a:lnTo>
                    <a:pt x="21426" y="755808"/>
                  </a:lnTo>
                  <a:lnTo>
                    <a:pt x="44678" y="771489"/>
                  </a:lnTo>
                  <a:lnTo>
                    <a:pt x="73151" y="777240"/>
                  </a:lnTo>
                  <a:lnTo>
                    <a:pt x="11109960" y="777240"/>
                  </a:lnTo>
                  <a:lnTo>
                    <a:pt x="11138427" y="771489"/>
                  </a:lnTo>
                  <a:lnTo>
                    <a:pt x="11161680" y="755808"/>
                  </a:lnTo>
                  <a:lnTo>
                    <a:pt x="11177361" y="732555"/>
                  </a:lnTo>
                  <a:lnTo>
                    <a:pt x="11183112" y="704088"/>
                  </a:lnTo>
                  <a:lnTo>
                    <a:pt x="11183112" y="73152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4088" y="2647188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47750" y="273418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7713" y="2717419"/>
            <a:ext cx="235013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Bias</a:t>
            </a:r>
            <a:r>
              <a:rPr sz="1250" b="1" spc="-4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pengguna</a:t>
            </a:r>
            <a:r>
              <a:rPr sz="1250" b="1" spc="-3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yang</a:t>
            </a:r>
            <a:r>
              <a:rPr sz="1250" b="1" spc="-4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menulis</a:t>
            </a:r>
            <a:r>
              <a:rPr sz="1250" b="1" spc="-3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A1E3C"/>
                </a:solidFill>
                <a:latin typeface="Calibri"/>
                <a:cs typeface="Calibri"/>
              </a:rPr>
              <a:t>ulasan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1295" y="2736849"/>
            <a:ext cx="73552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15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bersifat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sukarela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sehingga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cenderung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ditulis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oleh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pengalaman</a:t>
            </a:r>
            <a:r>
              <a:rPr sz="11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sangat</a:t>
            </a:r>
            <a:r>
              <a:rPr sz="11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baik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atau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sangat</a:t>
            </a:r>
            <a:r>
              <a:rPr sz="11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buruk.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9288" y="3235426"/>
            <a:ext cx="11383645" cy="977900"/>
            <a:chOff x="399288" y="3235426"/>
            <a:chExt cx="11383645" cy="9779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3235426"/>
              <a:ext cx="11383518" cy="9776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2920" y="3300983"/>
              <a:ext cx="11183620" cy="777240"/>
            </a:xfrm>
            <a:custGeom>
              <a:avLst/>
              <a:gdLst/>
              <a:ahLst/>
              <a:cxnLst/>
              <a:rect l="l" t="t" r="r" b="b"/>
              <a:pathLst>
                <a:path w="11183620" h="77723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04088"/>
                  </a:lnTo>
                  <a:lnTo>
                    <a:pt x="5748" y="732555"/>
                  </a:lnTo>
                  <a:lnTo>
                    <a:pt x="21426" y="755808"/>
                  </a:lnTo>
                  <a:lnTo>
                    <a:pt x="44678" y="771489"/>
                  </a:lnTo>
                  <a:lnTo>
                    <a:pt x="73151" y="777239"/>
                  </a:lnTo>
                  <a:lnTo>
                    <a:pt x="11109960" y="777239"/>
                  </a:lnTo>
                  <a:lnTo>
                    <a:pt x="11138427" y="771489"/>
                  </a:lnTo>
                  <a:lnTo>
                    <a:pt x="11161680" y="755808"/>
                  </a:lnTo>
                  <a:lnTo>
                    <a:pt x="11177361" y="732555"/>
                  </a:lnTo>
                  <a:lnTo>
                    <a:pt x="11183112" y="704088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4088" y="34975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84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7750" y="3584575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67713" y="3568064"/>
            <a:ext cx="205105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Pelabelan</a:t>
            </a:r>
            <a:r>
              <a:rPr sz="1250" b="1" spc="-5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sentimen</a:t>
            </a:r>
            <a:r>
              <a:rPr sz="1250" b="1" spc="-4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A1E3C"/>
                </a:solidFill>
                <a:latin typeface="Calibri"/>
                <a:cs typeface="Calibri"/>
              </a:rPr>
              <a:t>sederhana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11295" y="3479342"/>
            <a:ext cx="7266940" cy="40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Label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ditentukan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dari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pemeriksaan</a:t>
            </a:r>
            <a:r>
              <a:rPr sz="11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singkat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teks,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bukan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model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NLP,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sehingga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berpotensi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kurang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akurat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1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15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bernada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sarkastis.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9288" y="4085818"/>
            <a:ext cx="11383645" cy="977900"/>
            <a:chOff x="399288" y="4085818"/>
            <a:chExt cx="11383645" cy="97790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4085818"/>
              <a:ext cx="11383518" cy="97767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2920" y="4151375"/>
              <a:ext cx="11183620" cy="777240"/>
            </a:xfrm>
            <a:custGeom>
              <a:avLst/>
              <a:gdLst/>
              <a:ahLst/>
              <a:cxnLst/>
              <a:rect l="l" t="t" r="r" b="b"/>
              <a:pathLst>
                <a:path w="11183620" h="77723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04088"/>
                  </a:lnTo>
                  <a:lnTo>
                    <a:pt x="5748" y="732555"/>
                  </a:lnTo>
                  <a:lnTo>
                    <a:pt x="21426" y="755808"/>
                  </a:lnTo>
                  <a:lnTo>
                    <a:pt x="44678" y="771489"/>
                  </a:lnTo>
                  <a:lnTo>
                    <a:pt x="73151" y="777240"/>
                  </a:lnTo>
                  <a:lnTo>
                    <a:pt x="11109960" y="777240"/>
                  </a:lnTo>
                  <a:lnTo>
                    <a:pt x="11138427" y="771489"/>
                  </a:lnTo>
                  <a:lnTo>
                    <a:pt x="11161680" y="755808"/>
                  </a:lnTo>
                  <a:lnTo>
                    <a:pt x="11177361" y="732555"/>
                  </a:lnTo>
                  <a:lnTo>
                    <a:pt x="11183112" y="704088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4088" y="4347971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3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7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3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E3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7750" y="4435221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67713" y="4418457"/>
            <a:ext cx="140208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Data</a:t>
            </a:r>
            <a:r>
              <a:rPr sz="1250" b="1" spc="-5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satu</a:t>
            </a:r>
            <a:r>
              <a:rPr sz="1250" b="1" spc="-2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titik</a:t>
            </a:r>
            <a:r>
              <a:rPr sz="1250" b="1" spc="-30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spc="-20" dirty="0">
                <a:solidFill>
                  <a:srgbClr val="0A1E3C"/>
                </a:solidFill>
                <a:latin typeface="Calibri"/>
                <a:cs typeface="Calibri"/>
              </a:rPr>
              <a:t>waktu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11295" y="4330066"/>
            <a:ext cx="6853555" cy="4032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Data</a:t>
            </a:r>
            <a:r>
              <a:rPr sz="11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diambil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satu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periode</a:t>
            </a:r>
            <a:r>
              <a:rPr sz="11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pengambilan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(Ags–Sep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2026),</a:t>
            </a:r>
            <a:r>
              <a:rPr sz="11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sehingga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tidak</a:t>
            </a:r>
            <a:r>
              <a:rPr sz="1150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menggambarkan</a:t>
            </a:r>
            <a:r>
              <a:rPr sz="11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perubahan</a:t>
            </a:r>
            <a:r>
              <a:rPr sz="11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antarwaktu.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9288" y="4936235"/>
            <a:ext cx="11383645" cy="977900"/>
            <a:chOff x="399288" y="4936235"/>
            <a:chExt cx="11383645" cy="9779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4936235"/>
              <a:ext cx="11383518" cy="97767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02920" y="5001767"/>
              <a:ext cx="11183620" cy="777240"/>
            </a:xfrm>
            <a:custGeom>
              <a:avLst/>
              <a:gdLst/>
              <a:ahLst/>
              <a:cxnLst/>
              <a:rect l="l" t="t" r="r" b="b"/>
              <a:pathLst>
                <a:path w="11183620" h="777239">
                  <a:moveTo>
                    <a:pt x="1110996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04087"/>
                  </a:lnTo>
                  <a:lnTo>
                    <a:pt x="5748" y="732561"/>
                  </a:lnTo>
                  <a:lnTo>
                    <a:pt x="21426" y="755813"/>
                  </a:lnTo>
                  <a:lnTo>
                    <a:pt x="44678" y="771491"/>
                  </a:lnTo>
                  <a:lnTo>
                    <a:pt x="73151" y="777239"/>
                  </a:lnTo>
                  <a:lnTo>
                    <a:pt x="11109960" y="777239"/>
                  </a:lnTo>
                  <a:lnTo>
                    <a:pt x="11138427" y="771491"/>
                  </a:lnTo>
                  <a:lnTo>
                    <a:pt x="11161680" y="755813"/>
                  </a:lnTo>
                  <a:lnTo>
                    <a:pt x="11177361" y="732561"/>
                  </a:lnTo>
                  <a:lnTo>
                    <a:pt x="11183112" y="704087"/>
                  </a:lnTo>
                  <a:lnTo>
                    <a:pt x="11183112" y="73151"/>
                  </a:lnTo>
                  <a:lnTo>
                    <a:pt x="11177361" y="44684"/>
                  </a:lnTo>
                  <a:lnTo>
                    <a:pt x="11161680" y="21431"/>
                  </a:lnTo>
                  <a:lnTo>
                    <a:pt x="11138427" y="5750"/>
                  </a:lnTo>
                  <a:lnTo>
                    <a:pt x="111099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4088" y="5198363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5" y="378976"/>
                  </a:lnTo>
                  <a:lnTo>
                    <a:pt x="276473" y="364529"/>
                  </a:lnTo>
                  <a:lnTo>
                    <a:pt x="312127" y="341860"/>
                  </a:lnTo>
                  <a:lnTo>
                    <a:pt x="341864" y="312122"/>
                  </a:lnTo>
                  <a:lnTo>
                    <a:pt x="364531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31" y="107579"/>
                  </a:lnTo>
                  <a:lnTo>
                    <a:pt x="341864" y="71925"/>
                  </a:lnTo>
                  <a:lnTo>
                    <a:pt x="312127" y="42187"/>
                  </a:lnTo>
                  <a:lnTo>
                    <a:pt x="276473" y="19518"/>
                  </a:lnTo>
                  <a:lnTo>
                    <a:pt x="236055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47750" y="5285994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1267713" y="5269229"/>
            <a:ext cx="168338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Korelasi</a:t>
            </a:r>
            <a:r>
              <a:rPr sz="1250" b="1" spc="-4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A1E3C"/>
                </a:solidFill>
                <a:latin typeface="Calibri"/>
                <a:cs typeface="Calibri"/>
              </a:rPr>
              <a:t>bukan</a:t>
            </a:r>
            <a:r>
              <a:rPr sz="1250" b="1" spc="-65" dirty="0">
                <a:solidFill>
                  <a:srgbClr val="0A1E3C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A1E3C"/>
                </a:solidFill>
                <a:latin typeface="Calibri"/>
                <a:cs typeface="Calibri"/>
              </a:rPr>
              <a:t>kausalitas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1295" y="5288102"/>
            <a:ext cx="6912609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Korelasi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Pearson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menunjukkan</a:t>
            </a:r>
            <a:r>
              <a:rPr sz="11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asosiasi,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bukan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hubungan</a:t>
            </a:r>
            <a:r>
              <a:rPr sz="11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sebab-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akibat,</a:t>
            </a:r>
            <a:r>
              <a:rPr sz="11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antara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rating,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sentimen,</a:t>
            </a:r>
            <a:r>
              <a:rPr sz="11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1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A1A2D"/>
                </a:solidFill>
                <a:latin typeface="Calibri"/>
                <a:cs typeface="Calibri"/>
              </a:rPr>
              <a:t>panjang</a:t>
            </a:r>
            <a:r>
              <a:rPr sz="11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A1A2D"/>
                </a:solidFill>
                <a:latin typeface="Calibri"/>
                <a:cs typeface="Calibri"/>
              </a:rPr>
              <a:t>ulasan.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0991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K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I</a:t>
            </a:r>
            <a:r>
              <a:rPr sz="1200" b="1" spc="-6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P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U</a:t>
            </a:r>
            <a:r>
              <a:rPr sz="1200" b="1" spc="-7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843C"/>
                </a:solidFill>
                <a:latin typeface="Calibri"/>
                <a:cs typeface="Calibri"/>
              </a:rPr>
              <a:t>L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843C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843C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Kesimpulan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93647" y="1671827"/>
            <a:ext cx="10194925" cy="4315460"/>
            <a:chOff x="993647" y="1671827"/>
            <a:chExt cx="10194925" cy="4315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647" y="1671827"/>
              <a:ext cx="10194798" cy="43152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7279" y="1737359"/>
              <a:ext cx="9994900" cy="4114800"/>
            </a:xfrm>
            <a:custGeom>
              <a:avLst/>
              <a:gdLst/>
              <a:ahLst/>
              <a:cxnLst/>
              <a:rect l="l" t="t" r="r" b="b"/>
              <a:pathLst>
                <a:path w="9994900" h="4114800">
                  <a:moveTo>
                    <a:pt x="9921240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4041635"/>
                  </a:lnTo>
                  <a:lnTo>
                    <a:pt x="5749" y="4070115"/>
                  </a:lnTo>
                  <a:lnTo>
                    <a:pt x="21428" y="4093371"/>
                  </a:lnTo>
                  <a:lnTo>
                    <a:pt x="44684" y="4109050"/>
                  </a:lnTo>
                  <a:lnTo>
                    <a:pt x="73164" y="4114800"/>
                  </a:lnTo>
                  <a:lnTo>
                    <a:pt x="9921240" y="4114800"/>
                  </a:lnTo>
                  <a:lnTo>
                    <a:pt x="9949707" y="4109050"/>
                  </a:lnTo>
                  <a:lnTo>
                    <a:pt x="9972960" y="4093371"/>
                  </a:lnTo>
                  <a:lnTo>
                    <a:pt x="9988641" y="4070115"/>
                  </a:lnTo>
                  <a:lnTo>
                    <a:pt x="9994392" y="4041635"/>
                  </a:lnTo>
                  <a:lnTo>
                    <a:pt x="9994392" y="73151"/>
                  </a:lnTo>
                  <a:lnTo>
                    <a:pt x="9988641" y="44684"/>
                  </a:lnTo>
                  <a:lnTo>
                    <a:pt x="9972960" y="21431"/>
                  </a:lnTo>
                  <a:lnTo>
                    <a:pt x="9949707" y="5750"/>
                  </a:lnTo>
                  <a:lnTo>
                    <a:pt x="9921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52397" y="2328519"/>
            <a:ext cx="8881745" cy="531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1370" marR="5080" indent="-2059305">
              <a:lnSpc>
                <a:spcPct val="125000"/>
              </a:lnSpc>
              <a:spcBef>
                <a:spcPts val="100"/>
              </a:spcBef>
            </a:pP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Analisis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terhadap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150</a:t>
            </a:r>
            <a:r>
              <a:rPr sz="1400" i="1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MyPertamina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di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Google</a:t>
            </a:r>
            <a:r>
              <a:rPr sz="1400" i="1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Play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Store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menunjukkan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400" i="1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400" i="1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cenderung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terbelah,</a:t>
            </a:r>
            <a:r>
              <a:rPr sz="1400" i="1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 err="1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lang="en-US" sz="1400" i="1" spc="-40" dirty="0">
                <a:solidFill>
                  <a:srgbClr val="1A1A2D"/>
                </a:solidFill>
                <a:latin typeface="Calibri"/>
                <a:cs typeface="Calibri"/>
              </a:rPr>
              <a:t>60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%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positif,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lang="en-US" sz="1400" i="1" spc="-50" dirty="0">
                <a:solidFill>
                  <a:srgbClr val="1A1A2D"/>
                </a:solidFill>
                <a:latin typeface="Calibri"/>
                <a:cs typeface="Calibri"/>
              </a:rPr>
              <a:t>5,3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%</a:t>
            </a:r>
            <a:r>
              <a:rPr sz="1400" i="1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netral,</a:t>
            </a:r>
            <a:r>
              <a:rPr sz="1400" i="1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400" i="1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lang="en-US" sz="1400" i="1" spc="-30" dirty="0">
                <a:solidFill>
                  <a:srgbClr val="1A1A2D"/>
                </a:solidFill>
                <a:latin typeface="Calibri"/>
                <a:cs typeface="Calibri"/>
              </a:rPr>
              <a:t>34,7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%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negatif.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884045" y="3563213"/>
            <a:ext cx="84181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0665" marR="5080" indent="-2767965">
              <a:lnSpc>
                <a:spcPct val="125000"/>
              </a:lnSpc>
              <a:spcBef>
                <a:spcPts val="100"/>
              </a:spcBef>
            </a:pP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400" i="1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bintang</a:t>
            </a:r>
            <a:r>
              <a:rPr sz="1400" i="1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berhubungan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cukup</a:t>
            </a:r>
            <a:r>
              <a:rPr sz="1400" i="1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kuat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400" i="1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(r</a:t>
            </a:r>
            <a:r>
              <a:rPr sz="1400" i="1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=</a:t>
            </a:r>
            <a:r>
              <a:rPr sz="1400" i="1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0.68),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sedangkan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panjang</a:t>
            </a:r>
            <a:r>
              <a:rPr sz="1400" i="1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hampir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tidak berhubungan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dengan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rating</a:t>
            </a:r>
            <a:r>
              <a:rPr sz="1400" i="1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(r</a:t>
            </a:r>
            <a:r>
              <a:rPr sz="1400" i="1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=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−0.19).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5613" y="4797907"/>
            <a:ext cx="92398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3585" marR="5080" indent="-2001520">
              <a:lnSpc>
                <a:spcPct val="125000"/>
              </a:lnSpc>
              <a:spcBef>
                <a:spcPts val="100"/>
              </a:spcBef>
            </a:pP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Tema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keluhan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utama</a:t>
            </a:r>
            <a:r>
              <a:rPr sz="1400" i="1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berpusat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400" i="1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performa</a:t>
            </a:r>
            <a:r>
              <a:rPr sz="1400" i="1" spc="-6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400" i="1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(eror/lemot)</a:t>
            </a:r>
            <a:r>
              <a:rPr sz="1400" i="1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proses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registrasi/verifikasi</a:t>
            </a:r>
            <a:r>
              <a:rPr sz="1400" i="1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dirasa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ribet</a:t>
            </a:r>
            <a:r>
              <a:rPr sz="1400" i="1" spc="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—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dua</a:t>
            </a:r>
            <a:r>
              <a:rPr sz="1400" i="1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20" dirty="0">
                <a:solidFill>
                  <a:srgbClr val="1A1A2D"/>
                </a:solidFill>
                <a:latin typeface="Calibri"/>
                <a:cs typeface="Calibri"/>
              </a:rPr>
              <a:t>area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400" i="1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paling</a:t>
            </a:r>
            <a:r>
              <a:rPr sz="1400" i="1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memengaruhi</a:t>
            </a:r>
            <a:r>
              <a:rPr sz="1400" i="1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penerimaan</a:t>
            </a:r>
            <a:r>
              <a:rPr sz="1400" i="1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1A1A2D"/>
                </a:solidFill>
                <a:latin typeface="Calibri"/>
                <a:cs typeface="Calibri"/>
              </a:rPr>
              <a:t>pengguna</a:t>
            </a:r>
            <a:r>
              <a:rPr sz="1400" i="1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terhadap</a:t>
            </a:r>
            <a:r>
              <a:rPr sz="1400" i="1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1A1A2D"/>
                </a:solidFill>
                <a:latin typeface="Calibri"/>
                <a:cs typeface="Calibri"/>
              </a:rPr>
              <a:t>platform</a:t>
            </a:r>
            <a:r>
              <a:rPr sz="1400" i="1" spc="-6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400" i="1" spc="-20" dirty="0">
                <a:solidFill>
                  <a:srgbClr val="1A1A2D"/>
                </a:solidFill>
                <a:latin typeface="Calibri"/>
                <a:cs typeface="Calibri"/>
              </a:rPr>
              <a:t>ini.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2401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K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O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D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54A3"/>
                </a:solidFill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Saran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99288" y="1580388"/>
            <a:ext cx="5458460" cy="4406900"/>
            <a:chOff x="399288" y="1580388"/>
            <a:chExt cx="5458460" cy="4406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1580388"/>
              <a:ext cx="5458206" cy="44066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920" y="1645920"/>
              <a:ext cx="5257800" cy="4206240"/>
            </a:xfrm>
            <a:custGeom>
              <a:avLst/>
              <a:gdLst/>
              <a:ahLst/>
              <a:cxnLst/>
              <a:rect l="l" t="t" r="r" b="b"/>
              <a:pathLst>
                <a:path w="5257800" h="4206240">
                  <a:moveTo>
                    <a:pt x="5184647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133088"/>
                  </a:lnTo>
                  <a:lnTo>
                    <a:pt x="5748" y="4161561"/>
                  </a:lnTo>
                  <a:lnTo>
                    <a:pt x="21426" y="4184813"/>
                  </a:lnTo>
                  <a:lnTo>
                    <a:pt x="44678" y="4200491"/>
                  </a:lnTo>
                  <a:lnTo>
                    <a:pt x="73151" y="4206240"/>
                  </a:lnTo>
                  <a:lnTo>
                    <a:pt x="5184647" y="4206240"/>
                  </a:lnTo>
                  <a:lnTo>
                    <a:pt x="5213115" y="4200491"/>
                  </a:lnTo>
                  <a:lnTo>
                    <a:pt x="5236368" y="4184813"/>
                  </a:lnTo>
                  <a:lnTo>
                    <a:pt x="5252049" y="4161561"/>
                  </a:lnTo>
                  <a:lnTo>
                    <a:pt x="5257800" y="4133088"/>
                  </a:lnTo>
                  <a:lnTo>
                    <a:pt x="5257800" y="73151"/>
                  </a:lnTo>
                  <a:lnTo>
                    <a:pt x="5252049" y="44684"/>
                  </a:lnTo>
                  <a:lnTo>
                    <a:pt x="5236368" y="21431"/>
                  </a:lnTo>
                  <a:lnTo>
                    <a:pt x="5213115" y="5750"/>
                  </a:lnTo>
                  <a:lnTo>
                    <a:pt x="5184647" y="0"/>
                  </a:lnTo>
                  <a:close/>
                </a:path>
              </a:pathLst>
            </a:custGeom>
            <a:solidFill>
              <a:srgbClr val="E7EE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259" y="1918157"/>
            <a:ext cx="208851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54A3"/>
                </a:solidFill>
                <a:latin typeface="Calibri"/>
                <a:cs typeface="Calibri"/>
              </a:rPr>
              <a:t>Bagi</a:t>
            </a:r>
            <a:r>
              <a:rPr sz="1500" b="1" spc="-1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54A3"/>
                </a:solidFill>
                <a:latin typeface="Calibri"/>
                <a:cs typeface="Calibri"/>
              </a:rPr>
              <a:t>Pengembang</a:t>
            </a:r>
            <a:r>
              <a:rPr sz="1500" b="1" spc="-3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54A3"/>
                </a:solidFill>
                <a:latin typeface="Calibri"/>
                <a:cs typeface="Calibri"/>
              </a:rPr>
              <a:t>Aplikasi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960" y="237743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19">
                <a:moveTo>
                  <a:pt x="137159" y="0"/>
                </a:moveTo>
                <a:lnTo>
                  <a:pt x="93805" y="6998"/>
                </a:lnTo>
                <a:lnTo>
                  <a:pt x="56153" y="26481"/>
                </a:lnTo>
                <a:lnTo>
                  <a:pt x="26462" y="56180"/>
                </a:lnTo>
                <a:lnTo>
                  <a:pt x="6992" y="93829"/>
                </a:lnTo>
                <a:lnTo>
                  <a:pt x="0" y="137160"/>
                </a:lnTo>
                <a:lnTo>
                  <a:pt x="6992" y="180490"/>
                </a:lnTo>
                <a:lnTo>
                  <a:pt x="26462" y="218139"/>
                </a:lnTo>
                <a:lnTo>
                  <a:pt x="56153" y="247838"/>
                </a:lnTo>
                <a:lnTo>
                  <a:pt x="93805" y="267321"/>
                </a:lnTo>
                <a:lnTo>
                  <a:pt x="137159" y="274320"/>
                </a:lnTo>
                <a:lnTo>
                  <a:pt x="180514" y="267321"/>
                </a:lnTo>
                <a:lnTo>
                  <a:pt x="218166" y="247838"/>
                </a:lnTo>
                <a:lnTo>
                  <a:pt x="247857" y="218139"/>
                </a:lnTo>
                <a:lnTo>
                  <a:pt x="267327" y="180490"/>
                </a:lnTo>
                <a:lnTo>
                  <a:pt x="274320" y="137160"/>
                </a:lnTo>
                <a:lnTo>
                  <a:pt x="267327" y="93829"/>
                </a:lnTo>
                <a:lnTo>
                  <a:pt x="247857" y="56180"/>
                </a:lnTo>
                <a:lnTo>
                  <a:pt x="218166" y="26481"/>
                </a:lnTo>
                <a:lnTo>
                  <a:pt x="180514" y="6998"/>
                </a:lnTo>
                <a:lnTo>
                  <a:pt x="137159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1758" y="2409570"/>
            <a:ext cx="95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2044" y="2385644"/>
            <a:ext cx="4055110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600"/>
              </a:lnSpc>
              <a:spcBef>
                <a:spcPts val="100"/>
              </a:spcBef>
            </a:pP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Perbaiki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performa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aplikasi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2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mengurangi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keluhan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eror</a:t>
            </a:r>
            <a:r>
              <a:rPr sz="12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dan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lemot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saat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transaksi.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2960" y="315467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5" y="6998"/>
                </a:lnTo>
                <a:lnTo>
                  <a:pt x="56153" y="26481"/>
                </a:lnTo>
                <a:lnTo>
                  <a:pt x="26462" y="56180"/>
                </a:lnTo>
                <a:lnTo>
                  <a:pt x="6992" y="93829"/>
                </a:lnTo>
                <a:lnTo>
                  <a:pt x="0" y="137160"/>
                </a:lnTo>
                <a:lnTo>
                  <a:pt x="6992" y="180490"/>
                </a:lnTo>
                <a:lnTo>
                  <a:pt x="26462" y="218139"/>
                </a:lnTo>
                <a:lnTo>
                  <a:pt x="56153" y="247838"/>
                </a:lnTo>
                <a:lnTo>
                  <a:pt x="93805" y="267321"/>
                </a:lnTo>
                <a:lnTo>
                  <a:pt x="137159" y="274320"/>
                </a:lnTo>
                <a:lnTo>
                  <a:pt x="180514" y="267321"/>
                </a:lnTo>
                <a:lnTo>
                  <a:pt x="218166" y="247838"/>
                </a:lnTo>
                <a:lnTo>
                  <a:pt x="247857" y="218139"/>
                </a:lnTo>
                <a:lnTo>
                  <a:pt x="267327" y="180490"/>
                </a:lnTo>
                <a:lnTo>
                  <a:pt x="274320" y="137160"/>
                </a:lnTo>
                <a:lnTo>
                  <a:pt x="267327" y="93829"/>
                </a:lnTo>
                <a:lnTo>
                  <a:pt x="247857" y="56180"/>
                </a:lnTo>
                <a:lnTo>
                  <a:pt x="218166" y="26481"/>
                </a:lnTo>
                <a:lnTo>
                  <a:pt x="180514" y="6998"/>
                </a:lnTo>
                <a:lnTo>
                  <a:pt x="137159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1758" y="3186811"/>
            <a:ext cx="95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2044" y="3288538"/>
            <a:ext cx="397954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Sederhanakan</a:t>
            </a:r>
            <a:r>
              <a:rPr sz="12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proses</a:t>
            </a:r>
            <a:r>
              <a:rPr sz="12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registrasi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dan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 verifikasi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akun</a:t>
            </a:r>
            <a:r>
              <a:rPr sz="12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pengguna.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2960" y="39319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5" y="6998"/>
                </a:lnTo>
                <a:lnTo>
                  <a:pt x="56153" y="26481"/>
                </a:lnTo>
                <a:lnTo>
                  <a:pt x="26462" y="56180"/>
                </a:lnTo>
                <a:lnTo>
                  <a:pt x="6992" y="93829"/>
                </a:lnTo>
                <a:lnTo>
                  <a:pt x="0" y="137159"/>
                </a:lnTo>
                <a:lnTo>
                  <a:pt x="6992" y="180490"/>
                </a:lnTo>
                <a:lnTo>
                  <a:pt x="26462" y="218139"/>
                </a:lnTo>
                <a:lnTo>
                  <a:pt x="56153" y="247838"/>
                </a:lnTo>
                <a:lnTo>
                  <a:pt x="93805" y="267321"/>
                </a:lnTo>
                <a:lnTo>
                  <a:pt x="137159" y="274319"/>
                </a:lnTo>
                <a:lnTo>
                  <a:pt x="180514" y="267321"/>
                </a:lnTo>
                <a:lnTo>
                  <a:pt x="218166" y="247838"/>
                </a:lnTo>
                <a:lnTo>
                  <a:pt x="247857" y="218139"/>
                </a:lnTo>
                <a:lnTo>
                  <a:pt x="267327" y="180490"/>
                </a:lnTo>
                <a:lnTo>
                  <a:pt x="274320" y="137159"/>
                </a:lnTo>
                <a:lnTo>
                  <a:pt x="267327" y="93829"/>
                </a:lnTo>
                <a:lnTo>
                  <a:pt x="247857" y="56180"/>
                </a:lnTo>
                <a:lnTo>
                  <a:pt x="218166" y="26481"/>
                </a:lnTo>
                <a:lnTo>
                  <a:pt x="180514" y="6998"/>
                </a:lnTo>
                <a:lnTo>
                  <a:pt x="137159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1758" y="3964304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2044" y="4065777"/>
            <a:ext cx="376999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Tingkatkan stabilitas</a:t>
            </a:r>
            <a:r>
              <a:rPr sz="12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server,</a:t>
            </a:r>
            <a:r>
              <a:rPr sz="1250" spc="-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terutama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pada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jam-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jam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sibuk.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2960" y="470915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5" y="6998"/>
                </a:lnTo>
                <a:lnTo>
                  <a:pt x="56153" y="26481"/>
                </a:lnTo>
                <a:lnTo>
                  <a:pt x="26462" y="56180"/>
                </a:lnTo>
                <a:lnTo>
                  <a:pt x="6992" y="93829"/>
                </a:lnTo>
                <a:lnTo>
                  <a:pt x="0" y="137159"/>
                </a:lnTo>
                <a:lnTo>
                  <a:pt x="6992" y="180490"/>
                </a:lnTo>
                <a:lnTo>
                  <a:pt x="26462" y="218139"/>
                </a:lnTo>
                <a:lnTo>
                  <a:pt x="56153" y="247838"/>
                </a:lnTo>
                <a:lnTo>
                  <a:pt x="93805" y="267321"/>
                </a:lnTo>
                <a:lnTo>
                  <a:pt x="137159" y="274319"/>
                </a:lnTo>
                <a:lnTo>
                  <a:pt x="180514" y="267321"/>
                </a:lnTo>
                <a:lnTo>
                  <a:pt x="218166" y="247838"/>
                </a:lnTo>
                <a:lnTo>
                  <a:pt x="247857" y="218139"/>
                </a:lnTo>
                <a:lnTo>
                  <a:pt x="267327" y="180490"/>
                </a:lnTo>
                <a:lnTo>
                  <a:pt x="274320" y="137159"/>
                </a:lnTo>
                <a:lnTo>
                  <a:pt x="267327" y="93829"/>
                </a:lnTo>
                <a:lnTo>
                  <a:pt x="247857" y="56180"/>
                </a:lnTo>
                <a:lnTo>
                  <a:pt x="218166" y="26481"/>
                </a:lnTo>
                <a:lnTo>
                  <a:pt x="180514" y="6998"/>
                </a:lnTo>
                <a:lnTo>
                  <a:pt x="137159" y="0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11758" y="4741545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2044" y="4718380"/>
            <a:ext cx="412369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</a:pP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Perbaiki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sistem</a:t>
            </a:r>
            <a:r>
              <a:rPr sz="125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pencatatan</a:t>
            </a:r>
            <a:r>
              <a:rPr sz="12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saldo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agar</a:t>
            </a:r>
            <a:r>
              <a:rPr sz="12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tidak</a:t>
            </a:r>
            <a:r>
              <a:rPr sz="12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terjadi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pemotongan ganda.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14288" y="1580388"/>
            <a:ext cx="5458460" cy="4406900"/>
            <a:chOff x="6114288" y="1580388"/>
            <a:chExt cx="5458460" cy="44069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4288" y="1580388"/>
              <a:ext cx="5458206" cy="440664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17920" y="1645920"/>
              <a:ext cx="5257800" cy="4206240"/>
            </a:xfrm>
            <a:custGeom>
              <a:avLst/>
              <a:gdLst/>
              <a:ahLst/>
              <a:cxnLst/>
              <a:rect l="l" t="t" r="r" b="b"/>
              <a:pathLst>
                <a:path w="5257800" h="4206240">
                  <a:moveTo>
                    <a:pt x="51846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133088"/>
                  </a:lnTo>
                  <a:lnTo>
                    <a:pt x="5750" y="4161561"/>
                  </a:lnTo>
                  <a:lnTo>
                    <a:pt x="21431" y="4184813"/>
                  </a:lnTo>
                  <a:lnTo>
                    <a:pt x="44684" y="4200491"/>
                  </a:lnTo>
                  <a:lnTo>
                    <a:pt x="73151" y="4206240"/>
                  </a:lnTo>
                  <a:lnTo>
                    <a:pt x="5184648" y="4206240"/>
                  </a:lnTo>
                  <a:lnTo>
                    <a:pt x="5213115" y="4200491"/>
                  </a:lnTo>
                  <a:lnTo>
                    <a:pt x="5236368" y="4184813"/>
                  </a:lnTo>
                  <a:lnTo>
                    <a:pt x="5252049" y="4161561"/>
                  </a:lnTo>
                  <a:lnTo>
                    <a:pt x="5257800" y="4133088"/>
                  </a:lnTo>
                  <a:lnTo>
                    <a:pt x="5257800" y="73151"/>
                  </a:lnTo>
                  <a:lnTo>
                    <a:pt x="5252049" y="44684"/>
                  </a:lnTo>
                  <a:lnTo>
                    <a:pt x="5236368" y="21431"/>
                  </a:lnTo>
                  <a:lnTo>
                    <a:pt x="5213115" y="5750"/>
                  </a:lnTo>
                  <a:lnTo>
                    <a:pt x="5184648" y="0"/>
                  </a:lnTo>
                  <a:close/>
                </a:path>
              </a:pathLst>
            </a:custGeom>
            <a:solidFill>
              <a:srgbClr val="E6F1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37960" y="237744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0"/>
                  </a:move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60"/>
                  </a:lnTo>
                  <a:lnTo>
                    <a:pt x="6998" y="180490"/>
                  </a:lnTo>
                  <a:lnTo>
                    <a:pt x="26481" y="218139"/>
                  </a:lnTo>
                  <a:lnTo>
                    <a:pt x="56180" y="247838"/>
                  </a:lnTo>
                  <a:lnTo>
                    <a:pt x="93829" y="267321"/>
                  </a:lnTo>
                  <a:lnTo>
                    <a:pt x="137160" y="274320"/>
                  </a:lnTo>
                  <a:lnTo>
                    <a:pt x="180490" y="267321"/>
                  </a:lnTo>
                  <a:lnTo>
                    <a:pt x="218139" y="247838"/>
                  </a:lnTo>
                  <a:lnTo>
                    <a:pt x="247838" y="218139"/>
                  </a:lnTo>
                  <a:lnTo>
                    <a:pt x="267321" y="180490"/>
                  </a:lnTo>
                  <a:lnTo>
                    <a:pt x="274320" y="137160"/>
                  </a:lnTo>
                  <a:lnTo>
                    <a:pt x="267321" y="93829"/>
                  </a:lnTo>
                  <a:lnTo>
                    <a:pt x="247838" y="56180"/>
                  </a:lnTo>
                  <a:lnTo>
                    <a:pt x="218139" y="26481"/>
                  </a:lnTo>
                  <a:lnTo>
                    <a:pt x="180490" y="6998"/>
                  </a:lnTo>
                  <a:lnTo>
                    <a:pt x="137160" y="0"/>
                  </a:lnTo>
                  <a:close/>
                </a:path>
              </a:pathLst>
            </a:custGeom>
            <a:solidFill>
              <a:srgbClr val="0084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627368" y="2409570"/>
            <a:ext cx="95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37959" y="315467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29" y="6998"/>
                </a:lnTo>
                <a:lnTo>
                  <a:pt x="56180" y="26481"/>
                </a:lnTo>
                <a:lnTo>
                  <a:pt x="26481" y="56180"/>
                </a:lnTo>
                <a:lnTo>
                  <a:pt x="6998" y="93829"/>
                </a:lnTo>
                <a:lnTo>
                  <a:pt x="0" y="137160"/>
                </a:lnTo>
                <a:lnTo>
                  <a:pt x="6998" y="180490"/>
                </a:lnTo>
                <a:lnTo>
                  <a:pt x="26481" y="218139"/>
                </a:lnTo>
                <a:lnTo>
                  <a:pt x="56180" y="247838"/>
                </a:lnTo>
                <a:lnTo>
                  <a:pt x="93829" y="267321"/>
                </a:lnTo>
                <a:lnTo>
                  <a:pt x="137160" y="274320"/>
                </a:lnTo>
                <a:lnTo>
                  <a:pt x="180490" y="267321"/>
                </a:lnTo>
                <a:lnTo>
                  <a:pt x="218139" y="247838"/>
                </a:lnTo>
                <a:lnTo>
                  <a:pt x="247838" y="218139"/>
                </a:lnTo>
                <a:lnTo>
                  <a:pt x="267321" y="180490"/>
                </a:lnTo>
                <a:lnTo>
                  <a:pt x="274320" y="137160"/>
                </a:lnTo>
                <a:lnTo>
                  <a:pt x="267321" y="93829"/>
                </a:lnTo>
                <a:lnTo>
                  <a:pt x="247838" y="56180"/>
                </a:lnTo>
                <a:lnTo>
                  <a:pt x="218139" y="26481"/>
                </a:lnTo>
                <a:lnTo>
                  <a:pt x="180490" y="6998"/>
                </a:lnTo>
                <a:lnTo>
                  <a:pt x="137160" y="0"/>
                </a:lnTo>
                <a:close/>
              </a:path>
            </a:pathLst>
          </a:custGeom>
          <a:solidFill>
            <a:srgbClr val="008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627368" y="3186811"/>
            <a:ext cx="952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37959" y="39319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29" y="6998"/>
                </a:lnTo>
                <a:lnTo>
                  <a:pt x="56180" y="26481"/>
                </a:lnTo>
                <a:lnTo>
                  <a:pt x="26481" y="56180"/>
                </a:lnTo>
                <a:lnTo>
                  <a:pt x="6998" y="93829"/>
                </a:lnTo>
                <a:lnTo>
                  <a:pt x="0" y="137159"/>
                </a:lnTo>
                <a:lnTo>
                  <a:pt x="6998" y="180490"/>
                </a:lnTo>
                <a:lnTo>
                  <a:pt x="26481" y="218139"/>
                </a:lnTo>
                <a:lnTo>
                  <a:pt x="56180" y="247838"/>
                </a:lnTo>
                <a:lnTo>
                  <a:pt x="93829" y="267321"/>
                </a:lnTo>
                <a:lnTo>
                  <a:pt x="137160" y="274319"/>
                </a:lnTo>
                <a:lnTo>
                  <a:pt x="180490" y="267321"/>
                </a:lnTo>
                <a:lnTo>
                  <a:pt x="218139" y="247838"/>
                </a:lnTo>
                <a:lnTo>
                  <a:pt x="247838" y="218139"/>
                </a:lnTo>
                <a:lnTo>
                  <a:pt x="267321" y="180490"/>
                </a:lnTo>
                <a:lnTo>
                  <a:pt x="274320" y="137159"/>
                </a:lnTo>
                <a:lnTo>
                  <a:pt x="267321" y="93829"/>
                </a:lnTo>
                <a:lnTo>
                  <a:pt x="247838" y="56180"/>
                </a:lnTo>
                <a:lnTo>
                  <a:pt x="218139" y="26481"/>
                </a:lnTo>
                <a:lnTo>
                  <a:pt x="180490" y="6998"/>
                </a:lnTo>
                <a:lnTo>
                  <a:pt x="137160" y="0"/>
                </a:lnTo>
                <a:close/>
              </a:path>
            </a:pathLst>
          </a:custGeom>
          <a:solidFill>
            <a:srgbClr val="008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627368" y="3964304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37959" y="470915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29" y="6998"/>
                </a:lnTo>
                <a:lnTo>
                  <a:pt x="56180" y="26481"/>
                </a:lnTo>
                <a:lnTo>
                  <a:pt x="26481" y="56180"/>
                </a:lnTo>
                <a:lnTo>
                  <a:pt x="6998" y="93829"/>
                </a:lnTo>
                <a:lnTo>
                  <a:pt x="0" y="137159"/>
                </a:lnTo>
                <a:lnTo>
                  <a:pt x="6998" y="180490"/>
                </a:lnTo>
                <a:lnTo>
                  <a:pt x="26481" y="218139"/>
                </a:lnTo>
                <a:lnTo>
                  <a:pt x="56180" y="247838"/>
                </a:lnTo>
                <a:lnTo>
                  <a:pt x="93829" y="267321"/>
                </a:lnTo>
                <a:lnTo>
                  <a:pt x="137160" y="274319"/>
                </a:lnTo>
                <a:lnTo>
                  <a:pt x="180490" y="267321"/>
                </a:lnTo>
                <a:lnTo>
                  <a:pt x="218139" y="247838"/>
                </a:lnTo>
                <a:lnTo>
                  <a:pt x="247838" y="218139"/>
                </a:lnTo>
                <a:lnTo>
                  <a:pt x="267321" y="180490"/>
                </a:lnTo>
                <a:lnTo>
                  <a:pt x="274320" y="137159"/>
                </a:lnTo>
                <a:lnTo>
                  <a:pt x="267321" y="93829"/>
                </a:lnTo>
                <a:lnTo>
                  <a:pt x="247838" y="56180"/>
                </a:lnTo>
                <a:lnTo>
                  <a:pt x="218139" y="26481"/>
                </a:lnTo>
                <a:lnTo>
                  <a:pt x="180490" y="6998"/>
                </a:lnTo>
                <a:lnTo>
                  <a:pt x="137160" y="0"/>
                </a:lnTo>
                <a:close/>
              </a:path>
            </a:pathLst>
          </a:custGeom>
          <a:solidFill>
            <a:srgbClr val="0084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27368" y="4741545"/>
            <a:ext cx="95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•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6526148" y="1918157"/>
            <a:ext cx="4554855" cy="324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843C"/>
                </a:solidFill>
                <a:latin typeface="Calibri"/>
                <a:cs typeface="Calibri"/>
              </a:rPr>
              <a:t>Bagi</a:t>
            </a:r>
            <a:r>
              <a:rPr sz="1500" b="1" spc="-40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843C"/>
                </a:solidFill>
                <a:latin typeface="Calibri"/>
                <a:cs typeface="Calibri"/>
              </a:rPr>
              <a:t>Peneliti</a:t>
            </a:r>
            <a:r>
              <a:rPr sz="1500" b="1" spc="-55" dirty="0">
                <a:solidFill>
                  <a:srgbClr val="00843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843C"/>
                </a:solidFill>
                <a:latin typeface="Calibri"/>
                <a:cs typeface="Calibri"/>
              </a:rPr>
              <a:t>Selanjutnya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Calibri"/>
              <a:cs typeface="Calibri"/>
            </a:endParaRPr>
          </a:p>
          <a:p>
            <a:pPr marL="423545" marR="404495">
              <a:lnSpc>
                <a:spcPct val="110600"/>
              </a:lnSpc>
            </a:pP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Gunakan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model</a:t>
            </a:r>
            <a:r>
              <a:rPr sz="1250" spc="-1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NLP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(misalnya</a:t>
            </a:r>
            <a:r>
              <a:rPr sz="12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IndoBERT)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klasifikasi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sentimen</a:t>
            </a:r>
            <a:r>
              <a:rPr sz="12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2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lebih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akurat.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50">
              <a:latin typeface="Calibri"/>
              <a:cs typeface="Calibri"/>
            </a:endParaRPr>
          </a:p>
          <a:p>
            <a:pPr marL="423545" marR="5080">
              <a:lnSpc>
                <a:spcPct val="110400"/>
              </a:lnSpc>
            </a:pP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Perluas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sumber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data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ke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media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sosial</a:t>
            </a:r>
            <a:r>
              <a:rPr sz="12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lain,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seperti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X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(Twitter)</a:t>
            </a:r>
            <a:r>
              <a:rPr sz="1250" spc="-5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dan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Instagram.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50">
              <a:latin typeface="Calibri"/>
              <a:cs typeface="Calibri"/>
            </a:endParaRPr>
          </a:p>
          <a:p>
            <a:pPr marL="423545" marR="161290">
              <a:lnSpc>
                <a:spcPct val="110500"/>
              </a:lnSpc>
            </a:pP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Kumpulkan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data</a:t>
            </a:r>
            <a:r>
              <a:rPr sz="1250" spc="-5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pada</a:t>
            </a:r>
            <a:r>
              <a:rPr sz="12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beberapa</a:t>
            </a:r>
            <a:r>
              <a:rPr sz="12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periode</a:t>
            </a: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waktu</a:t>
            </a:r>
            <a:r>
              <a:rPr sz="1250" spc="-6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untuk</a:t>
            </a:r>
            <a:r>
              <a:rPr sz="12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melihat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tren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sentimen.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250">
              <a:latin typeface="Calibri"/>
              <a:cs typeface="Calibri"/>
            </a:endParaRPr>
          </a:p>
          <a:p>
            <a:pPr marL="423545" marR="474980">
              <a:lnSpc>
                <a:spcPct val="110400"/>
              </a:lnSpc>
            </a:pPr>
            <a:r>
              <a:rPr sz="1250" spc="-20" dirty="0">
                <a:solidFill>
                  <a:srgbClr val="1A1A2D"/>
                </a:solidFill>
                <a:latin typeface="Calibri"/>
                <a:cs typeface="Calibri"/>
              </a:rPr>
              <a:t>Tambahkan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jumlah</a:t>
            </a:r>
            <a:r>
              <a:rPr sz="1250" spc="-2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ulasan</a:t>
            </a:r>
            <a:r>
              <a:rPr sz="1250" spc="-3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yang</a:t>
            </a:r>
            <a:r>
              <a:rPr sz="12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dianalisis</a:t>
            </a:r>
            <a:r>
              <a:rPr sz="1250" spc="-45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agar</a:t>
            </a:r>
            <a:r>
              <a:rPr sz="1250" spc="-3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A1A2D"/>
                </a:solidFill>
                <a:latin typeface="Calibri"/>
                <a:cs typeface="Calibri"/>
              </a:rPr>
              <a:t>hasil</a:t>
            </a:r>
            <a:r>
              <a:rPr sz="1250" spc="-40" dirty="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A1A2D"/>
                </a:solidFill>
                <a:latin typeface="Calibri"/>
                <a:cs typeface="Calibri"/>
              </a:rPr>
              <a:t>lebih representatif.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219" y="407619"/>
            <a:ext cx="12401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K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O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M</a:t>
            </a:r>
            <a:r>
              <a:rPr sz="1200" b="1" spc="-8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E</a:t>
            </a:r>
            <a:r>
              <a:rPr sz="1200" b="1" spc="-6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N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54A3"/>
                </a:solidFill>
                <a:latin typeface="Calibri"/>
                <a:cs typeface="Calibri"/>
              </a:rPr>
              <a:t>D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A</a:t>
            </a:r>
            <a:r>
              <a:rPr sz="1200" b="1" spc="-70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54A3"/>
                </a:solidFill>
                <a:latin typeface="Calibri"/>
                <a:cs typeface="Calibri"/>
              </a:rPr>
              <a:t>S</a:t>
            </a:r>
            <a:r>
              <a:rPr sz="1200" b="1" spc="-75" dirty="0">
                <a:solidFill>
                  <a:srgbClr val="0054A3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0054A3"/>
                </a:solidFill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863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Sumber</a:t>
            </a:r>
            <a:r>
              <a:rPr spc="-20" dirty="0"/>
              <a:t> </a:t>
            </a:r>
            <a:r>
              <a:rPr spc="-10" dirty="0"/>
              <a:t>referensi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2044" y="3288538"/>
            <a:ext cx="6540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50" dirty="0">
                <a:solidFill>
                  <a:srgbClr val="1A1A2D"/>
                </a:solidFill>
                <a:latin typeface="Calibri"/>
                <a:cs typeface="Calibri"/>
              </a:rPr>
              <a:t>.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1838" y="1585594"/>
            <a:ext cx="3663441" cy="22957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1350" y="4112653"/>
            <a:ext cx="3503929" cy="2130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444" y="1585607"/>
            <a:ext cx="2293493" cy="4692650"/>
          </a:xfrm>
          <a:prstGeom prst="rect">
            <a:avLst/>
          </a:prstGeom>
        </p:spPr>
      </p:pic>
      <p:pic>
        <p:nvPicPr>
          <p:cNvPr id="8" name="object 8" descr="Image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68566" y="1682623"/>
            <a:ext cx="4485894" cy="25233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13573" y="4329709"/>
            <a:ext cx="4040885" cy="204520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Analisis</a:t>
            </a:r>
            <a:r>
              <a:rPr spc="-5" dirty="0"/>
              <a:t> </a:t>
            </a:r>
            <a:r>
              <a:rPr dirty="0"/>
              <a:t>Sentimen</a:t>
            </a:r>
            <a:r>
              <a:rPr spc="-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Penerimaan</a:t>
            </a:r>
            <a:r>
              <a:rPr spc="-25" dirty="0"/>
              <a:t> </a:t>
            </a:r>
            <a:r>
              <a:rPr dirty="0"/>
              <a:t>Digital</a:t>
            </a:r>
            <a:r>
              <a:rPr spc="-1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spc="-10" dirty="0"/>
              <a:t>MyPertamina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</a:rPr>
              <a:t>TERIMA</a:t>
            </a:r>
            <a:r>
              <a:rPr sz="4800" spc="-2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KASIH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413886" y="3801236"/>
            <a:ext cx="5361305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9FC2ED"/>
                </a:solidFill>
                <a:latin typeface="Calibri"/>
                <a:cs typeface="Calibri"/>
              </a:rPr>
              <a:t>Analisis</a:t>
            </a:r>
            <a:r>
              <a:rPr sz="1400" i="1" spc="-6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FC2ED"/>
                </a:solidFill>
                <a:latin typeface="Calibri"/>
                <a:cs typeface="Calibri"/>
              </a:rPr>
              <a:t>Sentimen</a:t>
            </a:r>
            <a:r>
              <a:rPr sz="1400" i="1" spc="-6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FC2ED"/>
                </a:solidFill>
                <a:latin typeface="Calibri"/>
                <a:cs typeface="Calibri"/>
              </a:rPr>
              <a:t>dan</a:t>
            </a:r>
            <a:r>
              <a:rPr sz="1400" i="1" spc="-5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FC2ED"/>
                </a:solidFill>
                <a:latin typeface="Calibri"/>
                <a:cs typeface="Calibri"/>
              </a:rPr>
              <a:t>Penerimaan</a:t>
            </a:r>
            <a:r>
              <a:rPr sz="1400" i="1" spc="-6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FC2ED"/>
                </a:solidFill>
                <a:latin typeface="Calibri"/>
                <a:cs typeface="Calibri"/>
              </a:rPr>
              <a:t>Platform</a:t>
            </a:r>
            <a:r>
              <a:rPr sz="1400" i="1" spc="-6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FC2ED"/>
                </a:solidFill>
                <a:latin typeface="Calibri"/>
                <a:cs typeface="Calibri"/>
              </a:rPr>
              <a:t>Digital:</a:t>
            </a:r>
            <a:r>
              <a:rPr sz="1400" i="1" spc="-35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FC2ED"/>
                </a:solidFill>
                <a:latin typeface="Calibri"/>
                <a:cs typeface="Calibri"/>
              </a:rPr>
              <a:t>Aplikasi</a:t>
            </a:r>
            <a:r>
              <a:rPr sz="1400" i="1" spc="-40" dirty="0">
                <a:solidFill>
                  <a:srgbClr val="9FC2ED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FC2ED"/>
                </a:solidFill>
                <a:latin typeface="Calibri"/>
                <a:cs typeface="Calibri"/>
              </a:rPr>
              <a:t>MyPertamina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1200" dirty="0">
                <a:solidFill>
                  <a:srgbClr val="AAB8CC"/>
                </a:solidFill>
                <a:latin typeface="Calibri"/>
                <a:cs typeface="Calibri"/>
              </a:rPr>
              <a:t>BBDM</a:t>
            </a:r>
            <a:r>
              <a:rPr sz="1200" spc="-10" dirty="0">
                <a:solidFill>
                  <a:srgbClr val="AAB8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AB8CC"/>
                </a:solidFill>
                <a:latin typeface="Calibri"/>
                <a:cs typeface="Calibri"/>
              </a:rPr>
              <a:t>26D</a:t>
            </a:r>
            <a:r>
              <a:rPr sz="1200" spc="10" dirty="0">
                <a:solidFill>
                  <a:srgbClr val="AAB8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AB8CC"/>
                </a:solidFill>
                <a:latin typeface="Calibri"/>
                <a:cs typeface="Calibri"/>
              </a:rPr>
              <a:t>—</a:t>
            </a:r>
            <a:r>
              <a:rPr sz="1200" spc="-10" dirty="0">
                <a:solidFill>
                  <a:srgbClr val="AAB8C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AAB8CC"/>
                </a:solidFill>
                <a:latin typeface="Calibri"/>
                <a:cs typeface="Calibri"/>
              </a:rPr>
              <a:t>Tugas</a:t>
            </a:r>
            <a:r>
              <a:rPr sz="1200" spc="-10" dirty="0">
                <a:solidFill>
                  <a:srgbClr val="AAB8CC"/>
                </a:solidFill>
                <a:latin typeface="Calibri"/>
                <a:cs typeface="Calibri"/>
              </a:rPr>
              <a:t> Internet</a:t>
            </a:r>
            <a:r>
              <a:rPr sz="1200" spc="-35" dirty="0">
                <a:solidFill>
                  <a:srgbClr val="AAB8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AAB8CC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AAB8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AAB8CC"/>
                </a:solidFill>
                <a:latin typeface="Calibri"/>
                <a:cs typeface="Calibri"/>
              </a:rPr>
              <a:t>Things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2015</Words>
  <Application>Microsoft Office PowerPoint</Application>
  <PresentationFormat>Widescreen</PresentationFormat>
  <Paragraphs>330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Office Theme</vt:lpstr>
      <vt:lpstr>ANALISIS SENTIMEN DAN PENERIMAAN PLATFORM DIGITAL: APLIKASI MYPERTAMINA</vt:lpstr>
      <vt:lpstr>Mengapa Studi Ini Dilakukan?</vt:lpstr>
      <vt:lpstr>Tujuan &amp; Pertanyaan Penelitian</vt:lpstr>
      <vt:lpstr>5W1H</vt:lpstr>
      <vt:lpstr>5W1H</vt:lpstr>
      <vt:lpstr>Dari Mana dan Bagaimana Data Diperoleh</vt:lpstr>
      <vt:lpstr>Data Ulasan yang Dikumpulkan</vt:lpstr>
      <vt:lpstr>Variabel Penelitian</vt:lpstr>
      <vt:lpstr>Metode Analisis</vt:lpstr>
      <vt:lpstr>Ringkasan Hasil</vt:lpstr>
      <vt:lpstr>Distribusi Sentimen Ulasan</vt:lpstr>
      <vt:lpstr>Tema Keluhan Utama pada Ulasan Negatif</vt:lpstr>
      <vt:lpstr>Pembahasan</vt:lpstr>
      <vt:lpstr>Keterbatasan Penelitian</vt:lpstr>
      <vt:lpstr>Kesimpulan</vt:lpstr>
      <vt:lpstr>Saran</vt:lpstr>
      <vt:lpstr>Sumber referensi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Ihsan Azmi</cp:lastModifiedBy>
  <cp:revision>1</cp:revision>
  <dcterms:created xsi:type="dcterms:W3CDTF">2026-09-18T06:07:41Z</dcterms:created>
  <dcterms:modified xsi:type="dcterms:W3CDTF">2026-09-18T06:39:57Z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2026-09-18T00:00:00Z</vt:filetime>
  </property>
  <property fmtid="{D5CDD505-2E9C-101B-9397-08002B2CF9AE}" pid="6" name="Producer">
    <vt:lpwstr>Microsoft® PowerPoint® 2021</vt:lpwstr>
  </property>
</Properties>
</file>